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GWatch is a calm monitor for a home network and its services. We're opening a beta before the 1.0 public release, and this is the invitation.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 is: one program, installed on a PC, a server, a NAS or a Pi. It checks things on a schedule, keeps history, and alerts with restraint.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dashboard: overall health, what needs attention, latency and response charts, groups, certificates. Widgets drag where you drop them.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network map draws each node under the one it depends on, and traces an outage's reach in red. Alerts for everything beneath a failed parent are suppressed, so you hear about the cause once.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reasons people stay: the checks, the restraint, the map, the memory, the automation and the privacy.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Runs as a Windows service, a Linux/macOS program, a multi-arch Docker image or on a Raspberry Pi. SQLite by default; PostgreSQL or MySQL if you prefer.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the beta is: 0.6.0 works and looks after your data. The interface and API can still change before 1.0, and that's exactly where testers come in.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join: download from the latest GitHub release, run it on your network, and file issues for bugs, rough edges and feature ideas.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Every report makes 1.0 better.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428625"/>
            <a:ext cx="10668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714500"/>
            <a:ext cx="10668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glow"/>
          <p:cNvSpPr/>
          <p:nvPr/>
        </p:nvSpPr>
        <p:spPr>
          <a:xfrm>
            <a:off x="-2540000" y="-3175000"/>
            <a:ext cx="12700000" cy="12700000"/>
          </a:xfrm>
          <a:prstGeom prst="rect">
            <a:avLst/>
          </a:prstGeom>
          <a:gradFill rotWithShape="1">
            <a:gsLst>
              <a:gs pos="0">
                <a:srgbClr val="43C9C0">
                  <a:alpha val="26667"/>
                </a:srgbClr>
              </a:gs>
              <a:gs pos="60000">
                <a:srgbClr val="43C9C0">
                  <a:alpha val="4706"/>
                </a:srgbClr>
              </a:gs>
              <a:gs pos="100000">
                <a:srgbClr val="43C9C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43" name="t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3" name="t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20000"/>
                </a:srgbClr>
              </a:solidFill>
            </a:ln>
          </p:spPr>
        </p:sp>
        <p:sp>
          <p:nvSpPr>
            <p:cNvPr id="4" name="t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13333"/>
                </a:srgbClr>
              </a:solidFill>
            </a:ln>
          </p:spPr>
        </p:sp>
        <p:sp>
          <p:nvSpPr>
            <p:cNvPr id="5" name="t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6" name="t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9020"/>
                </a:srgbClr>
              </a:solidFill>
            </a:ln>
          </p:spPr>
        </p:sp>
        <p:sp>
          <p:nvSpPr>
            <p:cNvPr id="7" name="t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9020"/>
                </a:srgbClr>
              </a:solidFill>
            </a:ln>
          </p:spPr>
        </p:sp>
        <p:sp>
          <p:nvSpPr>
            <p:cNvPr id="8" name="t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9" name="t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10" name="t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57255"/>
              </a:srgbClr>
            </a:solidFill>
            <a:ln>
              <a:noFill/>
            </a:ln>
          </p:spPr>
        </p:sp>
        <p:sp>
          <p:nvSpPr>
            <p:cNvPr id="11" name="t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20784"/>
              </a:srgbClr>
            </a:solidFill>
            <a:ln>
              <a:noFill/>
            </a:ln>
          </p:spPr>
        </p:sp>
        <p:sp>
          <p:nvSpPr>
            <p:cNvPr id="12" name="t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13" name="t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29020"/>
              </a:srgbClr>
            </a:solidFill>
            <a:ln>
              <a:noFill/>
            </a:ln>
          </p:spPr>
        </p:sp>
        <p:sp>
          <p:nvSpPr>
            <p:cNvPr id="14" name="t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15" name="t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31373"/>
              </a:srgbClr>
            </a:solidFill>
            <a:ln>
              <a:noFill/>
            </a:ln>
          </p:spPr>
        </p:sp>
        <p:sp>
          <p:nvSpPr>
            <p:cNvPr id="16" name="t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47843"/>
              </a:srgbClr>
            </a:solidFill>
            <a:ln>
              <a:noFill/>
            </a:ln>
          </p:spPr>
        </p:sp>
        <p:sp>
          <p:nvSpPr>
            <p:cNvPr id="17" name="t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25098"/>
              </a:srgbClr>
            </a:solidFill>
            <a:ln>
              <a:noFill/>
            </a:ln>
          </p:spPr>
        </p:sp>
        <p:sp>
          <p:nvSpPr>
            <p:cNvPr id="18" name="t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20784"/>
              </a:srgbClr>
            </a:solidFill>
            <a:ln>
              <a:noFill/>
            </a:ln>
          </p:spPr>
        </p:sp>
        <p:sp>
          <p:nvSpPr>
            <p:cNvPr id="19" name="t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45882"/>
              </a:srgbClr>
            </a:solidFill>
            <a:ln>
              <a:noFill/>
            </a:ln>
          </p:spPr>
        </p:sp>
        <p:sp>
          <p:nvSpPr>
            <p:cNvPr id="20" name="t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31373"/>
              </a:srgbClr>
            </a:solidFill>
            <a:ln>
              <a:noFill/>
            </a:ln>
          </p:spPr>
        </p:sp>
        <p:sp>
          <p:nvSpPr>
            <p:cNvPr id="21" name="t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22" name="t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23" name="t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24" name="t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25" name="t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26" name="t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27" name="t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28" name="t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29" name="t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0" name="t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31" name="t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25098"/>
              </a:srgbClr>
            </a:solidFill>
            <a:ln>
              <a:noFill/>
            </a:ln>
          </p:spPr>
        </p:sp>
        <p:sp>
          <p:nvSpPr>
            <p:cNvPr id="32" name="t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41569"/>
              </a:srgbClr>
            </a:solidFill>
            <a:ln>
              <a:noFill/>
            </a:ln>
          </p:spPr>
        </p:sp>
        <p:sp>
          <p:nvSpPr>
            <p:cNvPr id="33" name="t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33333"/>
              </a:srgbClr>
            </a:solidFill>
            <a:ln>
              <a:noFill/>
            </a:ln>
          </p:spPr>
        </p:sp>
        <p:sp>
          <p:nvSpPr>
            <p:cNvPr id="34" name="t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5" name="t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36" name="t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37" name="t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45882"/>
              </a:srgbClr>
            </a:solidFill>
            <a:ln>
              <a:noFill/>
            </a:ln>
          </p:spPr>
        </p:sp>
        <p:sp>
          <p:nvSpPr>
            <p:cNvPr id="38" name="t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39608"/>
              </a:srgbClr>
            </a:solidFill>
            <a:ln>
              <a:noFill/>
            </a:ln>
          </p:spPr>
        </p:sp>
        <p:sp>
          <p:nvSpPr>
            <p:cNvPr id="39" name="t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40" name="t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41" name="t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42" name="t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</p:grpSp>
      <p:grpSp>
        <p:nvGrpSpPr>
          <p:cNvPr id="51" name="t-mark"/>
          <p:cNvGrpSpPr/>
          <p:nvPr/>
        </p:nvGrpSpPr>
        <p:grpSpPr>
          <a:xfrm>
            <a:off x="7747000" y="1270000"/>
            <a:ext cx="3556000" cy="3556000"/>
            <a:chOff x="0" y="0"/>
            <a:chExt cx="3556000" cy="3556000"/>
          </a:xfrm>
        </p:grpSpPr>
        <p:sp>
          <p:nvSpPr>
            <p:cNvPr id="44" name="t-mark-c0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7131" y="24412"/>
                  </a:moveTo>
                  <a:cubicBezTo>
                    <a:pt x="7131" y="33956"/>
                    <a:pt x="14868" y="41694"/>
                    <a:pt x="24412" y="41694"/>
                  </a:cubicBezTo>
                  <a:cubicBezTo>
                    <a:pt x="33957" y="41694"/>
                    <a:pt x="41694" y="33956"/>
                    <a:pt x="41694" y="24412"/>
                  </a:cubicBezTo>
                  <a:cubicBezTo>
                    <a:pt x="41694" y="14868"/>
                    <a:pt x="33957" y="7131"/>
                    <a:pt x="24412" y="7131"/>
                  </a:cubicBezTo>
                  <a:cubicBezTo>
                    <a:pt x="14868" y="7131"/>
                    <a:pt x="7131" y="14868"/>
                    <a:pt x="7131" y="2441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t-mark-c1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14831" y="24675"/>
                  </a:moveTo>
                  <a:cubicBezTo>
                    <a:pt x="14831" y="30208"/>
                    <a:pt x="19317" y="34694"/>
                    <a:pt x="24850" y="34694"/>
                  </a:cubicBezTo>
                  <a:cubicBezTo>
                    <a:pt x="30383" y="34694"/>
                    <a:pt x="34869" y="30208"/>
                    <a:pt x="34869" y="24675"/>
                  </a:cubicBezTo>
                  <a:cubicBezTo>
                    <a:pt x="34869" y="19142"/>
                    <a:pt x="30383" y="14656"/>
                    <a:pt x="24850" y="14656"/>
                  </a:cubicBezTo>
                  <a:cubicBezTo>
                    <a:pt x="19317" y="14656"/>
                    <a:pt x="14831" y="19142"/>
                    <a:pt x="14831" y="2467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t-mark-c2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19338" y="24894"/>
                  </a:moveTo>
                  <a:cubicBezTo>
                    <a:pt x="19338" y="27962"/>
                    <a:pt x="21826" y="30450"/>
                    <a:pt x="24894" y="30450"/>
                  </a:cubicBezTo>
                  <a:cubicBezTo>
                    <a:pt x="27962" y="30450"/>
                    <a:pt x="30450" y="27962"/>
                    <a:pt x="30450" y="24894"/>
                  </a:cubicBezTo>
                  <a:cubicBezTo>
                    <a:pt x="30450" y="21826"/>
                    <a:pt x="27962" y="19338"/>
                    <a:pt x="24894" y="19338"/>
                  </a:cubicBezTo>
                  <a:cubicBezTo>
                    <a:pt x="21826" y="19338"/>
                    <a:pt x="19338" y="21826"/>
                    <a:pt x="19338" y="2489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t-mark-c3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25900" y="22575"/>
                  </a:moveTo>
                  <a:cubicBezTo>
                    <a:pt x="25900" y="23445"/>
                    <a:pt x="26605" y="24150"/>
                    <a:pt x="27475" y="24150"/>
                  </a:cubicBezTo>
                  <a:cubicBezTo>
                    <a:pt x="28345" y="24150"/>
                    <a:pt x="29050" y="23445"/>
                    <a:pt x="29050" y="22575"/>
                  </a:cubicBezTo>
                  <a:cubicBezTo>
                    <a:pt x="29050" y="21705"/>
                    <a:pt x="28345" y="21000"/>
                    <a:pt x="27475" y="21000"/>
                  </a:cubicBezTo>
                  <a:cubicBezTo>
                    <a:pt x="26605" y="21000"/>
                    <a:pt x="25900" y="21705"/>
                    <a:pt x="25900" y="2257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t-mark-s0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44275" y="23371"/>
                  </a:moveTo>
                  <a:cubicBezTo>
                    <a:pt x="44803" y="33437"/>
                    <a:pt x="37718" y="42307"/>
                    <a:pt x="27783" y="44015"/>
                  </a:cubicBezTo>
                  <a:cubicBezTo>
                    <a:pt x="17849" y="45723"/>
                    <a:pt x="8208" y="39729"/>
                    <a:pt x="5344" y="30064"/>
                  </a:cubicBezTo>
                  <a:cubicBezTo>
                    <a:pt x="2480" y="20399"/>
                    <a:pt x="7300" y="10120"/>
                    <a:pt x="16561" y="6141"/>
                  </a:cubicBezTo>
                  <a:cubicBezTo>
                    <a:pt x="25822" y="2161"/>
                    <a:pt x="36596" y="5739"/>
                    <a:pt x="41637" y="14468"/>
                  </a:cubicBezTo>
                </a:path>
              </a:pathLst>
            </a:custGeom>
            <a:noFill/>
            <a:ln w="342900" cap="rnd">
              <a:solidFill>
                <a:srgbClr val="F2F4F6"/>
              </a:solidFill>
              <a:round/>
            </a:ln>
          </p:spPr>
        </p:sp>
        <p:sp>
          <p:nvSpPr>
            <p:cNvPr id="49" name="t-mark-s1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38894" y="25729"/>
                  </a:moveTo>
                  <a:lnTo>
                    <a:pt x="44450" y="25729"/>
                  </a:lnTo>
                </a:path>
              </a:pathLst>
            </a:custGeom>
            <a:noFill/>
            <a:ln w="317500" cap="rnd">
              <a:solidFill>
                <a:srgbClr val="F2F4F6"/>
              </a:solidFill>
              <a:round/>
            </a:ln>
          </p:spPr>
        </p:sp>
        <p:sp>
          <p:nvSpPr>
            <p:cNvPr id="50" name="t-mark-s2"/>
            <p:cNvSpPr/>
            <p:nvPr/>
          </p:nvSpPr>
          <p:spPr>
            <a:xfrm>
              <a:off x="0" y="0"/>
              <a:ext cx="3556000" cy="3556000"/>
            </a:xfrm>
            <a:custGeom>
              <a:avLst/>
              <a:gdLst/>
              <a:ahLst/>
              <a:cxnLst/>
              <a:rect l="0" t="0" r="r" b="b"/>
              <a:pathLst>
                <a:path w="56000" h="56000">
                  <a:moveTo>
                    <a:pt x="41326" y="41396"/>
                  </a:moveTo>
                  <a:lnTo>
                    <a:pt x="50562" y="50697"/>
                  </a:lnTo>
                </a:path>
              </a:pathLst>
            </a:custGeom>
            <a:noFill/>
            <a:ln w="450850" cap="rnd">
              <a:solidFill>
                <a:srgbClr val="F2F4F6"/>
              </a:solidFill>
              <a:round/>
            </a:ln>
          </p:spPr>
        </p:sp>
      </p:grpSp>
      <p:grpSp>
        <p:nvGrpSpPr>
          <p:cNvPr id="61" name="t-logo"/>
          <p:cNvGrpSpPr/>
          <p:nvPr/>
        </p:nvGrpSpPr>
        <p:grpSpPr>
          <a:xfrm>
            <a:off x="889000" y="952500"/>
            <a:ext cx="1701800" cy="533400"/>
            <a:chOff x="0" y="0"/>
            <a:chExt cx="1701800" cy="533400"/>
          </a:xfrm>
        </p:grpSpPr>
        <p:grpSp>
          <p:nvGrpSpPr>
            <p:cNvPr id="59" name="t-logo-mark"/>
            <p:cNvGrpSpPr/>
            <p:nvPr/>
          </p:nvGrpSpPr>
          <p:grpSpPr>
            <a:xfrm>
              <a:off x="0" y="0"/>
              <a:ext cx="533400" cy="533400"/>
              <a:chOff x="0" y="0"/>
              <a:chExt cx="533400" cy="533400"/>
            </a:xfrm>
          </p:grpSpPr>
          <p:sp>
            <p:nvSpPr>
              <p:cNvPr id="52" name="t-logo-mark-c0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1070" y="3662"/>
                    </a:moveTo>
                    <a:cubicBezTo>
                      <a:pt x="1070" y="5094"/>
                      <a:pt x="2230" y="6254"/>
                      <a:pt x="3662" y="6254"/>
                    </a:cubicBezTo>
                    <a:cubicBezTo>
                      <a:pt x="5094" y="6254"/>
                      <a:pt x="6254" y="5094"/>
                      <a:pt x="6254" y="3662"/>
                    </a:cubicBezTo>
                    <a:cubicBezTo>
                      <a:pt x="6254" y="2230"/>
                      <a:pt x="5094" y="1070"/>
                      <a:pt x="3662" y="1070"/>
                    </a:cubicBezTo>
                    <a:cubicBezTo>
                      <a:pt x="2230" y="1070"/>
                      <a:pt x="1070" y="2230"/>
                      <a:pt x="1070" y="3662"/>
                    </a:cubicBezTo>
                    <a:close/>
                  </a:path>
                </a:pathLst>
              </a:custGeom>
              <a:solidFill>
                <a:srgbClr val="1B1E24"/>
              </a:solidFill>
              <a:ln>
                <a:noFill/>
              </a:ln>
            </p:spPr>
          </p:sp>
          <p:sp>
            <p:nvSpPr>
              <p:cNvPr id="53" name="t-logo-mark-c1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2225" y="3701"/>
                    </a:moveTo>
                    <a:cubicBezTo>
                      <a:pt x="2211" y="4247"/>
                      <a:pt x="2494" y="4758"/>
                      <a:pt x="2965" y="5035"/>
                    </a:cubicBezTo>
                    <a:cubicBezTo>
                      <a:pt x="3436" y="5312"/>
                      <a:pt x="4019" y="5312"/>
                      <a:pt x="4490" y="5035"/>
                    </a:cubicBezTo>
                    <a:cubicBezTo>
                      <a:pt x="4961" y="4758"/>
                      <a:pt x="5244" y="4247"/>
                      <a:pt x="5230" y="3701"/>
                    </a:cubicBezTo>
                    <a:cubicBezTo>
                      <a:pt x="5244" y="3155"/>
                      <a:pt x="4961" y="2644"/>
                      <a:pt x="4490" y="2367"/>
                    </a:cubicBezTo>
                    <a:cubicBezTo>
                      <a:pt x="4019" y="2090"/>
                      <a:pt x="3436" y="2090"/>
                      <a:pt x="2965" y="2367"/>
                    </a:cubicBezTo>
                    <a:cubicBezTo>
                      <a:pt x="2494" y="2644"/>
                      <a:pt x="2211" y="3155"/>
                      <a:pt x="2225" y="3701"/>
                    </a:cubicBezTo>
                    <a:close/>
                  </a:path>
                </a:pathLst>
              </a:custGeom>
              <a:solidFill>
                <a:srgbClr val="D3A32E"/>
              </a:solidFill>
              <a:ln>
                <a:noFill/>
              </a:ln>
            </p:spPr>
          </p:sp>
          <p:sp>
            <p:nvSpPr>
              <p:cNvPr id="54" name="t-logo-mark-c2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2901" y="3734"/>
                    </a:moveTo>
                    <a:cubicBezTo>
                      <a:pt x="2901" y="4194"/>
                      <a:pt x="3274" y="4567"/>
                      <a:pt x="3734" y="4567"/>
                    </a:cubicBezTo>
                    <a:cubicBezTo>
                      <a:pt x="4194" y="4567"/>
                      <a:pt x="4567" y="4194"/>
                      <a:pt x="4567" y="3734"/>
                    </a:cubicBezTo>
                    <a:cubicBezTo>
                      <a:pt x="4567" y="3274"/>
                      <a:pt x="4194" y="2901"/>
                      <a:pt x="3734" y="2901"/>
                    </a:cubicBezTo>
                    <a:cubicBezTo>
                      <a:pt x="3274" y="2901"/>
                      <a:pt x="2901" y="3274"/>
                      <a:pt x="2901" y="3734"/>
                    </a:cubicBezTo>
                    <a:close/>
                  </a:path>
                </a:pathLst>
              </a:custGeom>
              <a:solidFill>
                <a:srgbClr val="F2F4F6"/>
              </a:solidFill>
              <a:ln>
                <a:noFill/>
              </a:ln>
            </p:spPr>
          </p:sp>
          <p:sp>
            <p:nvSpPr>
              <p:cNvPr id="55" name="t-logo-mark-c3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3885" y="3386"/>
                    </a:moveTo>
                    <a:cubicBezTo>
                      <a:pt x="3885" y="3516"/>
                      <a:pt x="3991" y="3622"/>
                      <a:pt x="4121" y="3622"/>
                    </a:cubicBezTo>
                    <a:cubicBezTo>
                      <a:pt x="4251" y="3622"/>
                      <a:pt x="4357" y="3516"/>
                      <a:pt x="4357" y="3386"/>
                    </a:cubicBezTo>
                    <a:cubicBezTo>
                      <a:pt x="4357" y="3256"/>
                      <a:pt x="4251" y="3150"/>
                      <a:pt x="4121" y="3150"/>
                    </a:cubicBezTo>
                    <a:cubicBezTo>
                      <a:pt x="3991" y="3150"/>
                      <a:pt x="3885" y="3256"/>
                      <a:pt x="3885" y="3386"/>
                    </a:cubicBezTo>
                    <a:close/>
                  </a:path>
                </a:pathLst>
              </a:custGeom>
              <a:solidFill>
                <a:srgbClr val="0F1114"/>
              </a:solidFill>
              <a:ln>
                <a:noFill/>
              </a:ln>
            </p:spPr>
          </p:sp>
          <p:sp>
            <p:nvSpPr>
              <p:cNvPr id="56" name="t-logo-mark-s0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6641" y="3506"/>
                    </a:moveTo>
                    <a:cubicBezTo>
                      <a:pt x="6719" y="5016"/>
                      <a:pt x="5656" y="6345"/>
                      <a:pt x="4166" y="6601"/>
                    </a:cubicBezTo>
                    <a:cubicBezTo>
                      <a:pt x="2675" y="6856"/>
                      <a:pt x="1230" y="5956"/>
                      <a:pt x="801" y="4506"/>
                    </a:cubicBezTo>
                    <a:cubicBezTo>
                      <a:pt x="373" y="3056"/>
                      <a:pt x="1096" y="1515"/>
                      <a:pt x="2486" y="919"/>
                    </a:cubicBezTo>
                    <a:cubicBezTo>
                      <a:pt x="3875" y="323"/>
                      <a:pt x="5491" y="860"/>
                      <a:pt x="6246" y="2170"/>
                    </a:cubicBezTo>
                  </a:path>
                </a:pathLst>
              </a:custGeom>
              <a:noFill/>
              <a:ln w="50800" cap="rnd">
                <a:solidFill>
                  <a:srgbClr val="F2F4F6"/>
                </a:solidFill>
                <a:round/>
              </a:ln>
            </p:spPr>
          </p:sp>
          <p:sp>
            <p:nvSpPr>
              <p:cNvPr id="57" name="t-logo-mark-s1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5834" y="3859"/>
                    </a:moveTo>
                    <a:lnTo>
                      <a:pt x="6667" y="3859"/>
                    </a:lnTo>
                  </a:path>
                </a:pathLst>
              </a:custGeom>
              <a:noFill/>
              <a:ln w="50800" cap="rnd">
                <a:solidFill>
                  <a:srgbClr val="F2F4F6"/>
                </a:solidFill>
                <a:round/>
              </a:ln>
            </p:spPr>
          </p:sp>
          <p:sp>
            <p:nvSpPr>
              <p:cNvPr id="58" name="t-logo-mark-s2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0" t="0" r="r" b="b"/>
                <a:pathLst>
                  <a:path w="8400" h="8400">
                    <a:moveTo>
                      <a:pt x="6199" y="6209"/>
                    </a:moveTo>
                    <a:lnTo>
                      <a:pt x="7584" y="7605"/>
                    </a:lnTo>
                  </a:path>
                </a:pathLst>
              </a:custGeom>
              <a:noFill/>
              <a:ln w="69850" cap="rnd">
                <a:solidFill>
                  <a:srgbClr val="F2F4F6"/>
                </a:solidFill>
                <a:round/>
              </a:ln>
            </p:spPr>
          </p:sp>
        </p:grpSp>
        <p:sp>
          <p:nvSpPr>
            <p:cNvPr id="60" name="t-logo-word"/>
            <p:cNvSpPr txBox="1"/>
            <p:nvPr/>
          </p:nvSpPr>
          <p:spPr>
            <a:xfrm>
              <a:off x="565302" y="-7518"/>
              <a:ext cx="1619250" cy="3631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3320"/>
                </a:lnSpc>
                <a:buNone/>
              </a:pPr>
              <a:r>
                <a:rPr lang="en-US" sz="2600" dirty="0">
                  <a:solidFill>
                    <a:srgbClr val="F2F4F6"/>
                  </a:solidFill>
                  <a:latin typeface="Barlow ExtraBold"/>
                  <a:ea typeface="Barlow ExtraBold"/>
                  <a:cs typeface="Barlow ExtraBold"/>
                </a:rPr>
                <a:t>GWatch</a:t>
              </a:r>
              <a:endParaRPr lang="en-US" sz="2600" dirty="0"/>
            </a:p>
          </p:txBody>
        </p:sp>
      </p:grpSp>
      <p:sp>
        <p:nvSpPr>
          <p:cNvPr id="62" name="t-title"/>
          <p:cNvSpPr>
            <a:spLocks noGrp="1"/>
          </p:cNvSpPr>
          <p:nvPr>
            <p:ph type="title"/>
          </p:nvPr>
        </p:nvSpPr>
        <p:spPr>
          <a:xfrm>
            <a:off x="889000" y="2408936"/>
            <a:ext cx="7953375" cy="165506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Your home network,</a:t>
            </a:r>
            <a:endParaRPr lang="en-US" sz="5600" dirty="0"/>
          </a:p>
          <a:p>
            <a:pPr algn="l">
              <a:lnSpc>
                <a:spcPts val="6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watched calmly.</a:t>
            </a:r>
            <a:endParaRPr lang="en-US" sz="5600" dirty="0"/>
          </a:p>
        </p:txBody>
      </p:sp>
      <p:grpSp>
        <p:nvGrpSpPr>
          <p:cNvPr id="65" name="t-badge"/>
          <p:cNvGrpSpPr/>
          <p:nvPr/>
        </p:nvGrpSpPr>
        <p:grpSpPr>
          <a:xfrm>
            <a:off x="889000" y="4508500"/>
            <a:ext cx="1549400" cy="368300"/>
            <a:chOff x="0" y="0"/>
            <a:chExt cx="1549400" cy="368300"/>
          </a:xfrm>
        </p:grpSpPr>
        <p:sp>
          <p:nvSpPr>
            <p:cNvPr id="63" name="t-badge-bg"/>
            <p:cNvSpPr/>
            <p:nvPr/>
          </p:nvSpPr>
          <p:spPr>
            <a:xfrm>
              <a:off x="0" y="0"/>
              <a:ext cx="1549400" cy="368300"/>
            </a:xfrm>
            <a:prstGeom prst="roundRect">
              <a:avLst>
                <a:gd name="adj" fmla="val 50000"/>
              </a:avLst>
            </a:prstGeom>
            <a:solidFill>
              <a:srgbClr val="D3A32E"/>
            </a:solidFill>
            <a:ln>
              <a:noFill/>
            </a:ln>
          </p:spPr>
        </p:sp>
        <p:sp>
          <p:nvSpPr>
            <p:cNvPr id="64" name="t-badge-label"/>
            <p:cNvSpPr txBox="1"/>
            <p:nvPr/>
          </p:nvSpPr>
          <p:spPr>
            <a:xfrm>
              <a:off x="137350" y="36894"/>
              <a:ext cx="1555750" cy="217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2120"/>
                </a:lnSpc>
                <a:buNone/>
              </a:pPr>
              <a:r>
                <a:rPr lang="en-US" sz="1500" dirty="0">
                  <a:solidFill>
                    <a:srgbClr val="061B3B"/>
                  </a:solidFill>
                  <a:latin typeface="Kode Mono"/>
                  <a:ea typeface="Kode Mono"/>
                  <a:cs typeface="Kode Mono"/>
                </a:rPr>
                <a:t>BETA  0.6.0</a:t>
              </a:r>
              <a:endParaRPr lang="en-US" sz="1500" dirty="0"/>
            </a:p>
          </p:txBody>
        </p:sp>
      </p:grpSp>
      <p:sp>
        <p:nvSpPr>
          <p:cNvPr id="66" name="t-sub"/>
          <p:cNvSpPr txBox="1"/>
          <p:nvPr/>
        </p:nvSpPr>
        <p:spPr>
          <a:xfrm>
            <a:off x="2620442" y="4461256"/>
            <a:ext cx="3103562" cy="25679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60"/>
              </a:lnSpc>
              <a:buNone/>
            </a:pPr>
            <a:r>
              <a:rPr lang="en-US" sz="18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You're invited to the beta.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680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2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wh-kicker"/>
          <p:cNvSpPr txBox="1"/>
          <p:nvPr/>
        </p:nvSpPr>
        <p:spPr>
          <a:xfrm>
            <a:off x="880580" y="817372"/>
            <a:ext cx="1231900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WHAT IT IS</a:t>
            </a:r>
            <a:endParaRPr lang="en-US" sz="1300" dirty="0"/>
          </a:p>
        </p:txBody>
      </p:sp>
      <p:sp>
        <p:nvSpPr>
          <p:cNvPr id="53" name="wh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5961062" cy="13103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A calm monitor for</a:t>
            </a:r>
            <a:endParaRPr lang="en-US" sz="4400" dirty="0"/>
          </a:p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everything you run.</a:t>
            </a:r>
            <a:endParaRPr lang="en-US" sz="4400" dirty="0"/>
          </a:p>
        </p:txBody>
      </p:sp>
      <p:sp>
        <p:nvSpPr>
          <p:cNvPr id="54" name="wh-body"/>
          <p:cNvSpPr txBox="1"/>
          <p:nvPr/>
        </p:nvSpPr>
        <p:spPr>
          <a:xfrm>
            <a:off x="889000" y="2790444"/>
            <a:ext cx="4826000" cy="16355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1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GWatch checks your router, servers, websites and services on a schedule, keeps the history, and only speaks up when something actually needs you.</a:t>
            </a:r>
            <a:endParaRPr lang="en-US" sz="1800" dirty="0"/>
          </a:p>
        </p:txBody>
      </p:sp>
      <p:grpSp>
        <p:nvGrpSpPr>
          <p:cNvPr id="58" name="wh-chk-0"/>
          <p:cNvGrpSpPr/>
          <p:nvPr/>
        </p:nvGrpSpPr>
        <p:grpSpPr>
          <a:xfrm>
            <a:off x="889000" y="4743450"/>
            <a:ext cx="647700" cy="279400"/>
            <a:chOff x="0" y="0"/>
            <a:chExt cx="647700" cy="279400"/>
          </a:xfrm>
        </p:grpSpPr>
        <p:sp>
          <p:nvSpPr>
            <p:cNvPr id="55" name="wh-chk-0-bg"/>
            <p:cNvSpPr/>
            <p:nvPr/>
          </p:nvSpPr>
          <p:spPr>
            <a:xfrm>
              <a:off x="0" y="0"/>
              <a:ext cx="64770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56" name="wh-chk-0-label"/>
            <p:cNvSpPr txBox="1"/>
            <p:nvPr/>
          </p:nvSpPr>
          <p:spPr>
            <a:xfrm>
              <a:off x="231089" y="21285"/>
              <a:ext cx="520700" cy="2136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Ping</a:t>
              </a:r>
              <a:endParaRPr lang="en-US" sz="1200" dirty="0"/>
            </a:p>
          </p:txBody>
        </p:sp>
        <p:sp>
          <p:nvSpPr>
            <p:cNvPr id="57" name="wh-chk-0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62" name="wh-chk-1"/>
          <p:cNvGrpSpPr/>
          <p:nvPr/>
        </p:nvGrpSpPr>
        <p:grpSpPr>
          <a:xfrm>
            <a:off x="1612900" y="4743450"/>
            <a:ext cx="869950" cy="279400"/>
            <a:chOff x="0" y="0"/>
            <a:chExt cx="869950" cy="279400"/>
          </a:xfrm>
        </p:grpSpPr>
        <p:sp>
          <p:nvSpPr>
            <p:cNvPr id="59" name="wh-chk-1-bg"/>
            <p:cNvSpPr/>
            <p:nvPr/>
          </p:nvSpPr>
          <p:spPr>
            <a:xfrm>
              <a:off x="0" y="0"/>
              <a:ext cx="86995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60" name="wh-chk-1-label"/>
            <p:cNvSpPr txBox="1"/>
            <p:nvPr/>
          </p:nvSpPr>
          <p:spPr>
            <a:xfrm>
              <a:off x="230175" y="18999"/>
              <a:ext cx="742950" cy="1842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HTTP/S</a:t>
              </a:r>
              <a:endParaRPr lang="en-US" sz="1200" dirty="0"/>
            </a:p>
          </p:txBody>
        </p:sp>
        <p:sp>
          <p:nvSpPr>
            <p:cNvPr id="61" name="wh-chk-1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66" name="wh-chk-2"/>
          <p:cNvGrpSpPr/>
          <p:nvPr/>
        </p:nvGrpSpPr>
        <p:grpSpPr>
          <a:xfrm>
            <a:off x="2559050" y="4743450"/>
            <a:ext cx="1149350" cy="279400"/>
            <a:chOff x="0" y="0"/>
            <a:chExt cx="1149350" cy="279400"/>
          </a:xfrm>
        </p:grpSpPr>
        <p:sp>
          <p:nvSpPr>
            <p:cNvPr id="63" name="wh-chk-2-bg"/>
            <p:cNvSpPr/>
            <p:nvPr/>
          </p:nvSpPr>
          <p:spPr>
            <a:xfrm>
              <a:off x="0" y="0"/>
              <a:ext cx="114935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64" name="wh-chk-2-label"/>
            <p:cNvSpPr txBox="1"/>
            <p:nvPr/>
          </p:nvSpPr>
          <p:spPr>
            <a:xfrm>
              <a:off x="232766" y="21285"/>
              <a:ext cx="1022350" cy="1819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Certificates</a:t>
              </a:r>
              <a:endParaRPr lang="en-US" sz="1200" dirty="0"/>
            </a:p>
          </p:txBody>
        </p:sp>
        <p:sp>
          <p:nvSpPr>
            <p:cNvPr id="65" name="wh-chk-2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70" name="wh-chk-3"/>
          <p:cNvGrpSpPr/>
          <p:nvPr/>
        </p:nvGrpSpPr>
        <p:grpSpPr>
          <a:xfrm>
            <a:off x="3784600" y="4743450"/>
            <a:ext cx="933450" cy="279400"/>
            <a:chOff x="0" y="0"/>
            <a:chExt cx="933450" cy="279400"/>
          </a:xfrm>
        </p:grpSpPr>
        <p:sp>
          <p:nvSpPr>
            <p:cNvPr id="67" name="wh-chk-3-bg"/>
            <p:cNvSpPr/>
            <p:nvPr/>
          </p:nvSpPr>
          <p:spPr>
            <a:xfrm>
              <a:off x="0" y="0"/>
              <a:ext cx="93345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68" name="wh-chk-3-label"/>
            <p:cNvSpPr txBox="1"/>
            <p:nvPr/>
          </p:nvSpPr>
          <p:spPr>
            <a:xfrm>
              <a:off x="236118" y="18999"/>
              <a:ext cx="806450" cy="2096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TCP port</a:t>
              </a:r>
              <a:endParaRPr lang="en-US" sz="1200" dirty="0"/>
            </a:p>
          </p:txBody>
        </p:sp>
        <p:sp>
          <p:nvSpPr>
            <p:cNvPr id="69" name="wh-chk-3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74" name="wh-chk-4"/>
          <p:cNvGrpSpPr/>
          <p:nvPr/>
        </p:nvGrpSpPr>
        <p:grpSpPr>
          <a:xfrm>
            <a:off x="4794250" y="4743450"/>
            <a:ext cx="635000" cy="279400"/>
            <a:chOff x="0" y="0"/>
            <a:chExt cx="635000" cy="279400"/>
          </a:xfrm>
        </p:grpSpPr>
        <p:sp>
          <p:nvSpPr>
            <p:cNvPr id="71" name="wh-chk-4-bg"/>
            <p:cNvSpPr/>
            <p:nvPr/>
          </p:nvSpPr>
          <p:spPr>
            <a:xfrm>
              <a:off x="0" y="0"/>
              <a:ext cx="63500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72" name="wh-chk-4-label"/>
            <p:cNvSpPr txBox="1"/>
            <p:nvPr/>
          </p:nvSpPr>
          <p:spPr>
            <a:xfrm>
              <a:off x="230175" y="18999"/>
              <a:ext cx="508000" cy="1842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DNS</a:t>
              </a:r>
              <a:endParaRPr lang="en-US" sz="1200" dirty="0"/>
            </a:p>
          </p:txBody>
        </p:sp>
        <p:sp>
          <p:nvSpPr>
            <p:cNvPr id="73" name="wh-chk-4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78" name="wh-chk-5"/>
          <p:cNvGrpSpPr/>
          <p:nvPr/>
        </p:nvGrpSpPr>
        <p:grpSpPr>
          <a:xfrm>
            <a:off x="889000" y="5099050"/>
            <a:ext cx="927100" cy="279400"/>
            <a:chOff x="0" y="0"/>
            <a:chExt cx="927100" cy="279400"/>
          </a:xfrm>
        </p:grpSpPr>
        <p:sp>
          <p:nvSpPr>
            <p:cNvPr id="75" name="wh-chk-5-bg"/>
            <p:cNvSpPr/>
            <p:nvPr/>
          </p:nvSpPr>
          <p:spPr>
            <a:xfrm>
              <a:off x="0" y="0"/>
              <a:ext cx="92710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76" name="wh-chk-5-label"/>
            <p:cNvSpPr txBox="1"/>
            <p:nvPr/>
          </p:nvSpPr>
          <p:spPr>
            <a:xfrm>
              <a:off x="230175" y="17780"/>
              <a:ext cx="800100" cy="2108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Keyword</a:t>
              </a:r>
              <a:endParaRPr lang="en-US" sz="1200" dirty="0"/>
            </a:p>
          </p:txBody>
        </p:sp>
        <p:sp>
          <p:nvSpPr>
            <p:cNvPr id="77" name="wh-chk-5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82" name="wh-chk-6"/>
          <p:cNvGrpSpPr/>
          <p:nvPr/>
        </p:nvGrpSpPr>
        <p:grpSpPr>
          <a:xfrm>
            <a:off x="1892300" y="5099050"/>
            <a:ext cx="730250" cy="279400"/>
            <a:chOff x="0" y="0"/>
            <a:chExt cx="730250" cy="279400"/>
          </a:xfrm>
        </p:grpSpPr>
        <p:sp>
          <p:nvSpPr>
            <p:cNvPr id="79" name="wh-chk-6-bg"/>
            <p:cNvSpPr/>
            <p:nvPr/>
          </p:nvSpPr>
          <p:spPr>
            <a:xfrm>
              <a:off x="0" y="0"/>
              <a:ext cx="73025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80" name="wh-chk-6-label"/>
            <p:cNvSpPr txBox="1"/>
            <p:nvPr/>
          </p:nvSpPr>
          <p:spPr>
            <a:xfrm>
              <a:off x="237947" y="18999"/>
              <a:ext cx="603250" cy="1842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JSON</a:t>
              </a:r>
              <a:endParaRPr lang="en-US" sz="1200" dirty="0"/>
            </a:p>
          </p:txBody>
        </p:sp>
        <p:sp>
          <p:nvSpPr>
            <p:cNvPr id="81" name="wh-chk-6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86" name="wh-chk-7"/>
          <p:cNvGrpSpPr/>
          <p:nvPr/>
        </p:nvGrpSpPr>
        <p:grpSpPr>
          <a:xfrm>
            <a:off x="2698750" y="5099050"/>
            <a:ext cx="1295400" cy="279400"/>
            <a:chOff x="0" y="0"/>
            <a:chExt cx="1295400" cy="279400"/>
          </a:xfrm>
        </p:grpSpPr>
        <p:sp>
          <p:nvSpPr>
            <p:cNvPr id="83" name="wh-chk-7-bg"/>
            <p:cNvSpPr/>
            <p:nvPr/>
          </p:nvSpPr>
          <p:spPr>
            <a:xfrm>
              <a:off x="0" y="0"/>
              <a:ext cx="129540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84" name="wh-chk-7-label"/>
            <p:cNvSpPr txBox="1"/>
            <p:nvPr/>
          </p:nvSpPr>
          <p:spPr>
            <a:xfrm>
              <a:off x="232766" y="21285"/>
              <a:ext cx="1174750" cy="20731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Custom script</a:t>
              </a:r>
              <a:endParaRPr lang="en-US" sz="1200" dirty="0"/>
            </a:p>
          </p:txBody>
        </p:sp>
        <p:sp>
          <p:nvSpPr>
            <p:cNvPr id="85" name="wh-chk-7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90" name="wh-chk-8"/>
          <p:cNvGrpSpPr/>
          <p:nvPr/>
        </p:nvGrpSpPr>
        <p:grpSpPr>
          <a:xfrm>
            <a:off x="4070350" y="5099050"/>
            <a:ext cx="1447800" cy="279400"/>
            <a:chOff x="0" y="0"/>
            <a:chExt cx="1447800" cy="279400"/>
          </a:xfrm>
        </p:grpSpPr>
        <p:sp>
          <p:nvSpPr>
            <p:cNvPr id="87" name="wh-chk-8-bg"/>
            <p:cNvSpPr/>
            <p:nvPr/>
          </p:nvSpPr>
          <p:spPr>
            <a:xfrm>
              <a:off x="0" y="0"/>
              <a:ext cx="144780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88" name="wh-chk-8-label"/>
            <p:cNvSpPr txBox="1"/>
            <p:nvPr/>
          </p:nvSpPr>
          <p:spPr>
            <a:xfrm>
              <a:off x="230175" y="17780"/>
              <a:ext cx="1365250" cy="1854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Hardware health</a:t>
              </a:r>
              <a:endParaRPr lang="en-US" sz="1200" dirty="0"/>
            </a:p>
          </p:txBody>
        </p:sp>
        <p:sp>
          <p:nvSpPr>
            <p:cNvPr id="89" name="wh-chk-8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94" name="wh-chk-9"/>
          <p:cNvGrpSpPr/>
          <p:nvPr/>
        </p:nvGrpSpPr>
        <p:grpSpPr>
          <a:xfrm>
            <a:off x="889000" y="5454650"/>
            <a:ext cx="742950" cy="279400"/>
            <a:chOff x="0" y="0"/>
            <a:chExt cx="742950" cy="279400"/>
          </a:xfrm>
        </p:grpSpPr>
        <p:sp>
          <p:nvSpPr>
            <p:cNvPr id="91" name="wh-chk-9-bg"/>
            <p:cNvSpPr/>
            <p:nvPr/>
          </p:nvSpPr>
          <p:spPr>
            <a:xfrm>
              <a:off x="0" y="0"/>
              <a:ext cx="742950" cy="279400"/>
            </a:xfrm>
            <a:prstGeom prst="roundRect">
              <a:avLst>
                <a:gd name="adj" fmla="val 50000"/>
              </a:avLst>
            </a:prstGeom>
            <a:solidFill>
              <a:srgbClr val="22262D"/>
            </a:solidFill>
            <a:ln>
              <a:noFill/>
            </a:ln>
          </p:spPr>
        </p:sp>
        <p:sp>
          <p:nvSpPr>
            <p:cNvPr id="92" name="wh-chk-9-label"/>
            <p:cNvSpPr txBox="1"/>
            <p:nvPr/>
          </p:nvSpPr>
          <p:spPr>
            <a:xfrm>
              <a:off x="234899" y="18999"/>
              <a:ext cx="615950" cy="1842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ts val="1640"/>
                </a:lnSpc>
                <a:buNone/>
              </a:pPr>
              <a:r>
                <a:rPr lang="en-US" sz="1200" dirty="0">
                  <a:solidFill>
                    <a:srgbClr val="F2F4F6"/>
                  </a:solidFill>
                  <a:latin typeface="Barlow SemiBold"/>
                  <a:ea typeface="Barlow SemiBold"/>
                  <a:cs typeface="Barlow SemiBold"/>
                </a:rPr>
                <a:t>SNMP</a:t>
              </a:r>
              <a:endParaRPr lang="en-US" sz="1200" dirty="0"/>
            </a:p>
          </p:txBody>
        </p:sp>
        <p:sp>
          <p:nvSpPr>
            <p:cNvPr id="93" name="wh-chk-9-dot"/>
            <p:cNvSpPr/>
            <p:nvPr/>
          </p:nvSpPr>
          <p:spPr>
            <a:xfrm>
              <a:off x="114300" y="107950"/>
              <a:ext cx="63500" cy="63500"/>
            </a:xfrm>
            <a:prstGeom prst="ellipse">
              <a:avLst/>
            </a:prstGeom>
            <a:solidFill>
              <a:srgbClr val="35E07F"/>
            </a:solidFill>
            <a:ln>
              <a:noFill/>
            </a:ln>
          </p:spPr>
        </p:sp>
      </p:grpSp>
      <p:grpSp>
        <p:nvGrpSpPr>
          <p:cNvPr id="101" name="wh-shot"/>
          <p:cNvGrpSpPr/>
          <p:nvPr/>
        </p:nvGrpSpPr>
        <p:grpSpPr>
          <a:xfrm>
            <a:off x="6350000" y="952500"/>
            <a:ext cx="6985000" cy="4826000"/>
            <a:chOff x="0" y="0"/>
            <a:chExt cx="6985000" cy="4826000"/>
          </a:xfrm>
        </p:grpSpPr>
        <p:pic>
          <p:nvPicPr>
            <p:cNvPr id="95" name="wh-shot-base" descr="wh-shot-bas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6985000" cy="4826000"/>
            </a:xfrm>
            <a:prstGeom prst="rect">
              <a:avLst/>
            </a:prstGeom>
          </p:spPr>
        </p:pic>
        <p:sp>
          <p:nvSpPr>
            <p:cNvPr id="96" name="wh-shot-tl0"/>
            <p:cNvSpPr/>
            <p:nvPr/>
          </p:nvSpPr>
          <p:spPr>
            <a:xfrm>
              <a:off x="120650" y="38100"/>
              <a:ext cx="127000" cy="127000"/>
            </a:xfrm>
            <a:prstGeom prst="ellipse">
              <a:avLst/>
            </a:prstGeom>
            <a:solidFill>
              <a:srgbClr val="FF5F57"/>
            </a:solidFill>
            <a:ln>
              <a:noFill/>
            </a:ln>
          </p:spPr>
        </p:sp>
        <p:sp>
          <p:nvSpPr>
            <p:cNvPr id="97" name="wh-shot-tl1"/>
            <p:cNvSpPr/>
            <p:nvPr/>
          </p:nvSpPr>
          <p:spPr>
            <a:xfrm>
              <a:off x="285750" y="38100"/>
              <a:ext cx="127000" cy="127000"/>
            </a:xfrm>
            <a:prstGeom prst="ellipse">
              <a:avLst/>
            </a:prstGeom>
            <a:solidFill>
              <a:srgbClr val="FEBC2E"/>
            </a:solidFill>
            <a:ln>
              <a:noFill/>
            </a:ln>
          </p:spPr>
        </p:sp>
        <p:sp>
          <p:nvSpPr>
            <p:cNvPr id="98" name="wh-shot-tl2"/>
            <p:cNvSpPr/>
            <p:nvPr/>
          </p:nvSpPr>
          <p:spPr>
            <a:xfrm>
              <a:off x="450850" y="38100"/>
              <a:ext cx="127000" cy="127000"/>
            </a:xfrm>
            <a:prstGeom prst="ellipse">
              <a:avLst/>
            </a:prstGeom>
            <a:solidFill>
              <a:srgbClr val="28C840"/>
            </a:solidFill>
            <a:ln>
              <a:noFill/>
            </a:ln>
          </p:spPr>
        </p:sp>
        <p:sp>
          <p:nvSpPr>
            <p:cNvPr id="99" name="wh-shot-win"/>
            <p:cNvSpPr/>
            <p:nvPr/>
          </p:nvSpPr>
          <p:spPr>
            <a:xfrm>
              <a:off x="0" y="196850"/>
              <a:ext cx="6985000" cy="4629150"/>
            </a:xfrm>
            <a:prstGeom prst="rect">
              <a:avLst/>
            </a:prstGeom>
            <a:solidFill>
              <a:srgbClr val="0F1114"/>
            </a:solidFill>
            <a:ln>
              <a:noFill/>
            </a:ln>
          </p:spPr>
        </p:sp>
        <p:pic>
          <p:nvPicPr>
            <p:cNvPr id="100" name="wh-shot-img" descr="wh-shot-im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196850"/>
              <a:ext cx="6985000" cy="4254500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ur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680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3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to-kicker"/>
          <p:cNvSpPr txBox="1"/>
          <p:nvPr/>
        </p:nvSpPr>
        <p:spPr>
          <a:xfrm>
            <a:off x="882561" y="817372"/>
            <a:ext cx="1603375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THE DASHBOARD</a:t>
            </a:r>
            <a:endParaRPr lang="en-US" sz="1300" dirty="0"/>
          </a:p>
        </p:txBody>
      </p:sp>
      <p:sp>
        <p:nvSpPr>
          <p:cNvPr id="53" name="to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7254875" cy="6499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Everything, </a:t>
            </a: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at a glance.</a:t>
            </a:r>
            <a:endParaRPr lang="en-US" sz="4400" dirty="0"/>
          </a:p>
        </p:txBody>
      </p:sp>
      <p:grpSp>
        <p:nvGrpSpPr>
          <p:cNvPr id="60" name="to-shot"/>
          <p:cNvGrpSpPr/>
          <p:nvPr/>
        </p:nvGrpSpPr>
        <p:grpSpPr>
          <a:xfrm>
            <a:off x="889000" y="2203450"/>
            <a:ext cx="11684000" cy="7442200"/>
            <a:chOff x="0" y="0"/>
            <a:chExt cx="11684000" cy="7442200"/>
          </a:xfrm>
        </p:grpSpPr>
        <p:pic>
          <p:nvPicPr>
            <p:cNvPr id="54" name="to-shot-base" descr="to-shot-bas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11684000" cy="4806950"/>
            </a:xfrm>
            <a:prstGeom prst="rect">
              <a:avLst/>
            </a:prstGeom>
          </p:spPr>
        </p:pic>
        <p:sp>
          <p:nvSpPr>
            <p:cNvPr id="55" name="to-shot-tl0"/>
            <p:cNvSpPr/>
            <p:nvPr/>
          </p:nvSpPr>
          <p:spPr>
            <a:xfrm>
              <a:off x="196850" y="57150"/>
              <a:ext cx="215900" cy="215900"/>
            </a:xfrm>
            <a:prstGeom prst="ellipse">
              <a:avLst/>
            </a:prstGeom>
            <a:solidFill>
              <a:srgbClr val="FF5F57"/>
            </a:solidFill>
            <a:ln>
              <a:noFill/>
            </a:ln>
          </p:spPr>
        </p:sp>
        <p:sp>
          <p:nvSpPr>
            <p:cNvPr id="56" name="to-shot-tl1"/>
            <p:cNvSpPr/>
            <p:nvPr/>
          </p:nvSpPr>
          <p:spPr>
            <a:xfrm>
              <a:off x="476250" y="57150"/>
              <a:ext cx="215900" cy="215900"/>
            </a:xfrm>
            <a:prstGeom prst="ellipse">
              <a:avLst/>
            </a:prstGeom>
            <a:solidFill>
              <a:srgbClr val="FEBC2E"/>
            </a:solidFill>
            <a:ln>
              <a:noFill/>
            </a:ln>
          </p:spPr>
        </p:sp>
        <p:sp>
          <p:nvSpPr>
            <p:cNvPr id="57" name="to-shot-tl2"/>
            <p:cNvSpPr/>
            <p:nvPr/>
          </p:nvSpPr>
          <p:spPr>
            <a:xfrm>
              <a:off x="762000" y="57150"/>
              <a:ext cx="215900" cy="215900"/>
            </a:xfrm>
            <a:prstGeom prst="ellipse">
              <a:avLst/>
            </a:prstGeom>
            <a:solidFill>
              <a:srgbClr val="28C840"/>
            </a:solidFill>
            <a:ln>
              <a:noFill/>
            </a:ln>
          </p:spPr>
        </p:sp>
        <p:sp>
          <p:nvSpPr>
            <p:cNvPr id="58" name="to-shot-win"/>
            <p:cNvSpPr/>
            <p:nvPr/>
          </p:nvSpPr>
          <p:spPr>
            <a:xfrm>
              <a:off x="0" y="330200"/>
              <a:ext cx="11684000" cy="3371850"/>
            </a:xfrm>
            <a:prstGeom prst="rect">
              <a:avLst/>
            </a:prstGeom>
            <a:solidFill>
              <a:srgbClr val="0F1114"/>
            </a:solidFill>
            <a:ln>
              <a:noFill/>
            </a:ln>
          </p:spPr>
        </p:sp>
        <p:pic>
          <p:nvPicPr>
            <p:cNvPr id="59" name="to-shot-img" descr="to-shot-im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30200"/>
              <a:ext cx="11684000" cy="3371850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p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6252" y="6181395"/>
            <a:ext cx="31750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4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ma-kicker"/>
          <p:cNvSpPr txBox="1"/>
          <p:nvPr/>
        </p:nvSpPr>
        <p:spPr>
          <a:xfrm>
            <a:off x="882561" y="817372"/>
            <a:ext cx="1849438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THE NETWORK MAP</a:t>
            </a:r>
            <a:endParaRPr lang="en-US" sz="1300" dirty="0"/>
          </a:p>
        </p:txBody>
      </p:sp>
      <p:sp>
        <p:nvSpPr>
          <p:cNvPr id="53" name="ma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6858000" cy="6499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One outage. </a:t>
            </a: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One alert.</a:t>
            </a:r>
            <a:endParaRPr lang="en-US" sz="4400" dirty="0"/>
          </a:p>
        </p:txBody>
      </p:sp>
      <p:grpSp>
        <p:nvGrpSpPr>
          <p:cNvPr id="60" name="ma-shot"/>
          <p:cNvGrpSpPr/>
          <p:nvPr/>
        </p:nvGrpSpPr>
        <p:grpSpPr>
          <a:xfrm>
            <a:off x="889000" y="2203450"/>
            <a:ext cx="6985000" cy="4451350"/>
            <a:chOff x="0" y="0"/>
            <a:chExt cx="6985000" cy="4451350"/>
          </a:xfrm>
        </p:grpSpPr>
        <p:pic>
          <p:nvPicPr>
            <p:cNvPr id="54" name="ma-shot-base" descr="ma-shot-bas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6985000" cy="4451350"/>
            </a:xfrm>
            <a:prstGeom prst="rect">
              <a:avLst/>
            </a:prstGeom>
          </p:spPr>
        </p:pic>
        <p:sp>
          <p:nvSpPr>
            <p:cNvPr id="55" name="ma-shot-tl0"/>
            <p:cNvSpPr/>
            <p:nvPr/>
          </p:nvSpPr>
          <p:spPr>
            <a:xfrm>
              <a:off x="120650" y="31750"/>
              <a:ext cx="127000" cy="127000"/>
            </a:xfrm>
            <a:prstGeom prst="ellipse">
              <a:avLst/>
            </a:prstGeom>
            <a:solidFill>
              <a:srgbClr val="FF5F57"/>
            </a:solidFill>
            <a:ln>
              <a:noFill/>
            </a:ln>
          </p:spPr>
        </p:sp>
        <p:sp>
          <p:nvSpPr>
            <p:cNvPr id="56" name="ma-shot-tl1"/>
            <p:cNvSpPr/>
            <p:nvPr/>
          </p:nvSpPr>
          <p:spPr>
            <a:xfrm>
              <a:off x="285750" y="31750"/>
              <a:ext cx="127000" cy="127000"/>
            </a:xfrm>
            <a:prstGeom prst="ellipse">
              <a:avLst/>
            </a:prstGeom>
            <a:solidFill>
              <a:srgbClr val="FEBC2E"/>
            </a:solidFill>
            <a:ln>
              <a:noFill/>
            </a:ln>
          </p:spPr>
        </p:sp>
        <p:sp>
          <p:nvSpPr>
            <p:cNvPr id="57" name="ma-shot-tl2"/>
            <p:cNvSpPr/>
            <p:nvPr/>
          </p:nvSpPr>
          <p:spPr>
            <a:xfrm>
              <a:off x="450850" y="31750"/>
              <a:ext cx="127000" cy="127000"/>
            </a:xfrm>
            <a:prstGeom prst="ellipse">
              <a:avLst/>
            </a:prstGeom>
            <a:solidFill>
              <a:srgbClr val="28C840"/>
            </a:solidFill>
            <a:ln>
              <a:noFill/>
            </a:ln>
          </p:spPr>
        </p:sp>
        <p:sp>
          <p:nvSpPr>
            <p:cNvPr id="58" name="ma-shot-win"/>
            <p:cNvSpPr/>
            <p:nvPr/>
          </p:nvSpPr>
          <p:spPr>
            <a:xfrm>
              <a:off x="0" y="196850"/>
              <a:ext cx="6985000" cy="3505200"/>
            </a:xfrm>
            <a:prstGeom prst="rect">
              <a:avLst/>
            </a:prstGeom>
            <a:solidFill>
              <a:srgbClr val="0F1114"/>
            </a:solidFill>
            <a:ln>
              <a:noFill/>
            </a:ln>
          </p:spPr>
        </p:sp>
        <p:pic>
          <p:nvPicPr>
            <p:cNvPr id="59" name="ma-shot-img" descr="ma-shot-im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196850"/>
              <a:ext cx="6985000" cy="3505200"/>
            </a:xfrm>
            <a:prstGeom prst="rect">
              <a:avLst/>
            </a:prstGeom>
          </p:spPr>
        </p:pic>
      </p:grpSp>
      <p:sp>
        <p:nvSpPr>
          <p:cNvPr id="61" name="ma-dot0"/>
          <p:cNvSpPr/>
          <p:nvPr/>
        </p:nvSpPr>
        <p:spPr>
          <a:xfrm>
            <a:off x="8255000" y="2482850"/>
            <a:ext cx="127000" cy="127000"/>
          </a:xfrm>
          <a:prstGeom prst="ellipse">
            <a:avLst/>
          </a:prstGeom>
          <a:solidFill>
            <a:srgbClr val="FF5C5C"/>
          </a:solidFill>
          <a:ln>
            <a:noFill/>
          </a:ln>
        </p:spPr>
      </p:sp>
      <p:sp>
        <p:nvSpPr>
          <p:cNvPr id="62" name="ma-t0"/>
          <p:cNvSpPr txBox="1"/>
          <p:nvPr/>
        </p:nvSpPr>
        <p:spPr>
          <a:xfrm>
            <a:off x="8521954" y="2301748"/>
            <a:ext cx="2008188" cy="32715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Dependencies</a:t>
            </a:r>
            <a:endParaRPr lang="en-US" sz="2000" dirty="0"/>
          </a:p>
        </p:txBody>
      </p:sp>
      <p:sp>
        <p:nvSpPr>
          <p:cNvPr id="63" name="ma-d0"/>
          <p:cNvSpPr txBox="1"/>
          <p:nvPr/>
        </p:nvSpPr>
        <p:spPr>
          <a:xfrm>
            <a:off x="8534400" y="2702712"/>
            <a:ext cx="2768600" cy="650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The firewall on top; everything it would silence beneath.</a:t>
            </a:r>
            <a:endParaRPr lang="en-US" sz="1400" dirty="0"/>
          </a:p>
        </p:txBody>
      </p:sp>
      <p:sp>
        <p:nvSpPr>
          <p:cNvPr id="64" name="ma-dot1"/>
          <p:cNvSpPr/>
          <p:nvPr/>
        </p:nvSpPr>
        <p:spPr>
          <a:xfrm>
            <a:off x="8255000" y="3752850"/>
            <a:ext cx="127000" cy="127000"/>
          </a:xfrm>
          <a:prstGeom prst="ellipse">
            <a:avLst/>
          </a:prstGeom>
          <a:solidFill>
            <a:srgbClr val="FFC542"/>
          </a:solidFill>
          <a:ln>
            <a:noFill/>
          </a:ln>
        </p:spPr>
      </p:sp>
      <p:sp>
        <p:nvSpPr>
          <p:cNvPr id="65" name="ma-t1"/>
          <p:cNvSpPr txBox="1"/>
          <p:nvPr/>
        </p:nvSpPr>
        <p:spPr>
          <a:xfrm>
            <a:off x="8528558" y="3562350"/>
            <a:ext cx="1920875" cy="330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Three layouts</a:t>
            </a:r>
            <a:endParaRPr lang="en-US" sz="2000" dirty="0"/>
          </a:p>
        </p:txBody>
      </p:sp>
      <p:sp>
        <p:nvSpPr>
          <p:cNvPr id="66" name="ma-d1"/>
          <p:cNvSpPr txBox="1"/>
          <p:nvPr/>
        </p:nvSpPr>
        <p:spPr>
          <a:xfrm>
            <a:off x="8534400" y="3972712"/>
            <a:ext cx="2768600" cy="3452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Styled to taste, edited in place.</a:t>
            </a:r>
            <a:endParaRPr lang="en-US" sz="1400" dirty="0"/>
          </a:p>
        </p:txBody>
      </p:sp>
      <p:sp>
        <p:nvSpPr>
          <p:cNvPr id="67" name="ma-dot2"/>
          <p:cNvSpPr/>
          <p:nvPr/>
        </p:nvSpPr>
        <p:spPr>
          <a:xfrm>
            <a:off x="8255000" y="5022850"/>
            <a:ext cx="127000" cy="127000"/>
          </a:xfrm>
          <a:prstGeom prst="ellipse">
            <a:avLst/>
          </a:prstGeom>
          <a:solidFill>
            <a:srgbClr val="35E07F"/>
          </a:solidFill>
          <a:ln>
            <a:noFill/>
          </a:ln>
        </p:spPr>
      </p:sp>
      <p:sp>
        <p:nvSpPr>
          <p:cNvPr id="68" name="ma-t2"/>
          <p:cNvSpPr txBox="1"/>
          <p:nvPr/>
        </p:nvSpPr>
        <p:spPr>
          <a:xfrm>
            <a:off x="8522716" y="4841748"/>
            <a:ext cx="939800" cy="28270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600"/>
              </a:lnSpc>
              <a:buNone/>
            </a:pPr>
            <a:r>
              <a:rPr lang="en-US" sz="20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Pin it</a:t>
            </a:r>
            <a:endParaRPr lang="en-US" sz="2000" dirty="0"/>
          </a:p>
        </p:txBody>
      </p:sp>
      <p:sp>
        <p:nvSpPr>
          <p:cNvPr id="69" name="ma-d2"/>
          <p:cNvSpPr txBox="1"/>
          <p:nvPr/>
        </p:nvSpPr>
        <p:spPr>
          <a:xfrm>
            <a:off x="8534400" y="5242712"/>
            <a:ext cx="2768600" cy="650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Put the map on any dashboard or wallboard.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eatures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680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5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fe-kicker"/>
          <p:cNvSpPr txBox="1"/>
          <p:nvPr/>
        </p:nvSpPr>
        <p:spPr>
          <a:xfrm>
            <a:off x="880580" y="817372"/>
            <a:ext cx="1603375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WHY IT'S GOOD</a:t>
            </a:r>
            <a:endParaRPr lang="en-US" sz="1300" dirty="0"/>
          </a:p>
        </p:txBody>
      </p:sp>
      <p:sp>
        <p:nvSpPr>
          <p:cNvPr id="53" name="fe-title"/>
          <p:cNvSpPr>
            <a:spLocks noGrp="1"/>
          </p:cNvSpPr>
          <p:nvPr>
            <p:ph type="title"/>
          </p:nvPr>
        </p:nvSpPr>
        <p:spPr>
          <a:xfrm>
            <a:off x="889000" y="1234440"/>
            <a:ext cx="6715125" cy="11976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Robust enough to trust.</a:t>
            </a:r>
            <a:endParaRPr lang="en-US" sz="4000" dirty="0"/>
          </a:p>
          <a:p>
            <a:pPr algn="l">
              <a:lnSpc>
                <a:spcPts val="4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Simple enough to enjoy.</a:t>
            </a:r>
            <a:endParaRPr lang="en-US" sz="4000" dirty="0"/>
          </a:p>
        </p:txBody>
      </p:sp>
      <p:sp>
        <p:nvSpPr>
          <p:cNvPr id="54" name="fe-card0"/>
          <p:cNvSpPr/>
          <p:nvPr/>
        </p:nvSpPr>
        <p:spPr>
          <a:xfrm>
            <a:off x="901700" y="28003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55" name="fe-dot0"/>
          <p:cNvSpPr/>
          <p:nvPr/>
        </p:nvSpPr>
        <p:spPr>
          <a:xfrm>
            <a:off x="1143000" y="3092450"/>
            <a:ext cx="114300" cy="114300"/>
          </a:xfrm>
          <a:prstGeom prst="ellipse">
            <a:avLst/>
          </a:prstGeom>
          <a:solidFill>
            <a:srgbClr val="35E07F"/>
          </a:solidFill>
          <a:ln>
            <a:noFill/>
          </a:ln>
        </p:spPr>
      </p:sp>
      <p:sp>
        <p:nvSpPr>
          <p:cNvPr id="56" name="fe-t0"/>
          <p:cNvSpPr txBox="1"/>
          <p:nvPr/>
        </p:nvSpPr>
        <p:spPr>
          <a:xfrm>
            <a:off x="1362431" y="2927388"/>
            <a:ext cx="2492375" cy="3174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Checks everything</a:t>
            </a:r>
            <a:endParaRPr lang="en-US" sz="1900" dirty="0"/>
          </a:p>
        </p:txBody>
      </p:sp>
      <p:sp>
        <p:nvSpPr>
          <p:cNvPr id="57" name="fe-d0"/>
          <p:cNvSpPr txBox="1"/>
          <p:nvPr/>
        </p:nvSpPr>
        <p:spPr>
          <a:xfrm>
            <a:off x="1143000" y="33921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Ping, HTTP/S, certificates, ports, DNS, keywords, JSON, SNMP, hardware health and your own scripts.</a:t>
            </a:r>
            <a:endParaRPr lang="en-US" sz="1250" dirty="0"/>
          </a:p>
        </p:txBody>
      </p:sp>
      <p:sp>
        <p:nvSpPr>
          <p:cNvPr id="58" name="fe-card1"/>
          <p:cNvSpPr/>
          <p:nvPr/>
        </p:nvSpPr>
        <p:spPr>
          <a:xfrm>
            <a:off x="4438650" y="28003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59" name="fe-dot1"/>
          <p:cNvSpPr/>
          <p:nvPr/>
        </p:nvSpPr>
        <p:spPr>
          <a:xfrm>
            <a:off x="4679950" y="3092450"/>
            <a:ext cx="114300" cy="114300"/>
          </a:xfrm>
          <a:prstGeom prst="ellipse">
            <a:avLst/>
          </a:prstGeom>
          <a:solidFill>
            <a:srgbClr val="FFC542"/>
          </a:solidFill>
          <a:ln>
            <a:noFill/>
          </a:ln>
        </p:spPr>
      </p:sp>
      <p:sp>
        <p:nvSpPr>
          <p:cNvPr id="60" name="fe-t1"/>
          <p:cNvSpPr txBox="1"/>
          <p:nvPr/>
        </p:nvSpPr>
        <p:spPr>
          <a:xfrm>
            <a:off x="4902711" y="2918460"/>
            <a:ext cx="2738438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Alerts that don't nag</a:t>
            </a:r>
            <a:endParaRPr lang="en-US" sz="1900" dirty="0"/>
          </a:p>
        </p:txBody>
      </p:sp>
      <p:sp>
        <p:nvSpPr>
          <p:cNvPr id="61" name="fe-d1"/>
          <p:cNvSpPr txBox="1"/>
          <p:nvPr/>
        </p:nvSpPr>
        <p:spPr>
          <a:xfrm>
            <a:off x="4679950" y="33921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After N failures, on recovery, with cooldowns, silences, maintenance windows and dependency-aware quiet.</a:t>
            </a:r>
            <a:endParaRPr lang="en-US" sz="1250" dirty="0"/>
          </a:p>
        </p:txBody>
      </p:sp>
      <p:sp>
        <p:nvSpPr>
          <p:cNvPr id="62" name="fe-card2"/>
          <p:cNvSpPr/>
          <p:nvPr/>
        </p:nvSpPr>
        <p:spPr>
          <a:xfrm>
            <a:off x="7981950" y="28003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63" name="fe-dot2"/>
          <p:cNvSpPr/>
          <p:nvPr/>
        </p:nvSpPr>
        <p:spPr>
          <a:xfrm>
            <a:off x="8223250" y="3092450"/>
            <a:ext cx="114300" cy="114300"/>
          </a:xfrm>
          <a:prstGeom prst="ellipse">
            <a:avLst/>
          </a:prstGeom>
          <a:solidFill>
            <a:srgbClr val="FF5C5C"/>
          </a:solidFill>
          <a:ln>
            <a:noFill/>
          </a:ln>
        </p:spPr>
      </p:sp>
      <p:sp>
        <p:nvSpPr>
          <p:cNvPr id="64" name="fe-t2"/>
          <p:cNvSpPr txBox="1"/>
          <p:nvPr/>
        </p:nvSpPr>
        <p:spPr>
          <a:xfrm>
            <a:off x="8444611" y="2927388"/>
            <a:ext cx="3079750" cy="3111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Sees the whole picture</a:t>
            </a:r>
            <a:endParaRPr lang="en-US" sz="1900" dirty="0"/>
          </a:p>
        </p:txBody>
      </p:sp>
      <p:sp>
        <p:nvSpPr>
          <p:cNvPr id="65" name="fe-d2"/>
          <p:cNvSpPr txBox="1"/>
          <p:nvPr/>
        </p:nvSpPr>
        <p:spPr>
          <a:xfrm>
            <a:off x="8223250" y="33921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A live network map traces what an outage really takes down, beneath the device that failed.</a:t>
            </a:r>
            <a:endParaRPr lang="en-US" sz="1250" dirty="0"/>
          </a:p>
        </p:txBody>
      </p:sp>
      <p:sp>
        <p:nvSpPr>
          <p:cNvPr id="66" name="fe-card3"/>
          <p:cNvSpPr/>
          <p:nvPr/>
        </p:nvSpPr>
        <p:spPr>
          <a:xfrm>
            <a:off x="901700" y="45910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67" name="fe-dot3"/>
          <p:cNvSpPr/>
          <p:nvPr/>
        </p:nvSpPr>
        <p:spPr>
          <a:xfrm>
            <a:off x="1143000" y="4883150"/>
            <a:ext cx="114300" cy="114300"/>
          </a:xfrm>
          <a:prstGeom prst="ellipse">
            <a:avLst/>
          </a:prstGeom>
          <a:solidFill>
            <a:srgbClr val="43C9C0"/>
          </a:solidFill>
          <a:ln>
            <a:noFill/>
          </a:ln>
        </p:spPr>
      </p:sp>
      <p:sp>
        <p:nvSpPr>
          <p:cNvPr id="68" name="fe-t3"/>
          <p:cNvSpPr txBox="1"/>
          <p:nvPr/>
        </p:nvSpPr>
        <p:spPr>
          <a:xfrm>
            <a:off x="1359776" y="4709160"/>
            <a:ext cx="1657350" cy="2692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Remembers</a:t>
            </a:r>
            <a:endParaRPr lang="en-US" sz="1900" dirty="0"/>
          </a:p>
        </p:txBody>
      </p:sp>
      <p:sp>
        <p:nvSpPr>
          <p:cNvPr id="69" name="fe-d3"/>
          <p:cNvSpPr txBox="1"/>
          <p:nvPr/>
        </p:nvSpPr>
        <p:spPr>
          <a:xfrm>
            <a:off x="1143000" y="51828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Long-term history, charts that stack today over last week, incidents and availability reports.</a:t>
            </a:r>
            <a:endParaRPr lang="en-US" sz="1250" dirty="0"/>
          </a:p>
        </p:txBody>
      </p:sp>
      <p:sp>
        <p:nvSpPr>
          <p:cNvPr id="70" name="fe-card4"/>
          <p:cNvSpPr/>
          <p:nvPr/>
        </p:nvSpPr>
        <p:spPr>
          <a:xfrm>
            <a:off x="4438650" y="45910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71" name="fe-dot4"/>
          <p:cNvSpPr/>
          <p:nvPr/>
        </p:nvSpPr>
        <p:spPr>
          <a:xfrm>
            <a:off x="4679950" y="4883150"/>
            <a:ext cx="114300" cy="114300"/>
          </a:xfrm>
          <a:prstGeom prst="ellipse">
            <a:avLst/>
          </a:prstGeom>
          <a:solidFill>
            <a:srgbClr val="D3A32E"/>
          </a:solidFill>
          <a:ln>
            <a:noFill/>
          </a:ln>
        </p:spPr>
      </p:sp>
      <p:sp>
        <p:nvSpPr>
          <p:cNvPr id="72" name="fe-t4"/>
          <p:cNvSpPr txBox="1"/>
          <p:nvPr/>
        </p:nvSpPr>
        <p:spPr>
          <a:xfrm>
            <a:off x="4902711" y="4709292"/>
            <a:ext cx="1670050" cy="31990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Acts for you</a:t>
            </a:r>
            <a:endParaRPr lang="en-US" sz="1900" dirty="0"/>
          </a:p>
        </p:txBody>
      </p:sp>
      <p:sp>
        <p:nvSpPr>
          <p:cNvPr id="73" name="fe-d4"/>
          <p:cNvSpPr txBox="1"/>
          <p:nvPr/>
        </p:nvSpPr>
        <p:spPr>
          <a:xfrm>
            <a:off x="4679950" y="51828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Email, Slack, Teams, ntfy, Pushover, webhooks, git and scripts when something changes.</a:t>
            </a:r>
            <a:endParaRPr lang="en-US" sz="1250" dirty="0"/>
          </a:p>
        </p:txBody>
      </p:sp>
      <p:sp>
        <p:nvSpPr>
          <p:cNvPr id="74" name="fe-card5"/>
          <p:cNvSpPr/>
          <p:nvPr/>
        </p:nvSpPr>
        <p:spPr>
          <a:xfrm>
            <a:off x="7981950" y="4591050"/>
            <a:ext cx="3308350" cy="1562100"/>
          </a:xfrm>
          <a:prstGeom prst="roundRect">
            <a:avLst>
              <a:gd name="adj" fmla="val 5285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75" name="fe-dot5"/>
          <p:cNvSpPr/>
          <p:nvPr/>
        </p:nvSpPr>
        <p:spPr>
          <a:xfrm>
            <a:off x="8223250" y="4883150"/>
            <a:ext cx="114300" cy="114300"/>
          </a:xfrm>
          <a:prstGeom prst="ellipse">
            <a:avLst/>
          </a:prstGeom>
          <a:solidFill>
            <a:srgbClr val="9EA7AF"/>
          </a:solidFill>
          <a:ln>
            <a:noFill/>
          </a:ln>
        </p:spPr>
      </p:sp>
      <p:sp>
        <p:nvSpPr>
          <p:cNvPr id="76" name="fe-t5"/>
          <p:cNvSpPr txBox="1"/>
          <p:nvPr/>
        </p:nvSpPr>
        <p:spPr>
          <a:xfrm>
            <a:off x="8444611" y="4711090"/>
            <a:ext cx="1612900" cy="318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80"/>
              </a:lnSpc>
              <a:buNone/>
            </a:pPr>
            <a:r>
              <a:rPr lang="en-US" sz="19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Stays home</a:t>
            </a:r>
            <a:endParaRPr lang="en-US" sz="1900" dirty="0"/>
          </a:p>
        </p:txBody>
      </p:sp>
      <p:sp>
        <p:nvSpPr>
          <p:cNvPr id="77" name="fe-d5"/>
          <p:cNvSpPr txBox="1"/>
          <p:nvPr/>
        </p:nvSpPr>
        <p:spPr>
          <a:xfrm>
            <a:off x="8223250" y="5182870"/>
            <a:ext cx="2825750" cy="86233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No cloud account, nothing phoned home, never internet-facing on its own. Signed updates, encrypted backups.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ywhere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527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6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an-kicker"/>
          <p:cNvSpPr txBox="1"/>
          <p:nvPr/>
        </p:nvSpPr>
        <p:spPr>
          <a:xfrm>
            <a:off x="877278" y="817372"/>
            <a:ext cx="2095500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RUNS WHERE YOU DO</a:t>
            </a:r>
            <a:endParaRPr lang="en-US" sz="1300" dirty="0"/>
          </a:p>
        </p:txBody>
      </p:sp>
      <p:sp>
        <p:nvSpPr>
          <p:cNvPr id="53" name="an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4722812" cy="13103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Your hardware.</a:t>
            </a:r>
            <a:endParaRPr lang="en-US" sz="4400" dirty="0"/>
          </a:p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Your data.</a:t>
            </a:r>
            <a:endParaRPr lang="en-US" sz="4400" dirty="0"/>
          </a:p>
        </p:txBody>
      </p:sp>
      <p:sp>
        <p:nvSpPr>
          <p:cNvPr id="54" name="an-rule0"/>
          <p:cNvSpPr/>
          <p:nvPr/>
        </p:nvSpPr>
        <p:spPr>
          <a:xfrm>
            <a:off x="889000" y="3054350"/>
            <a:ext cx="2451100" cy="38100"/>
          </a:xfrm>
          <a:prstGeom prst="rect">
            <a:avLst/>
          </a:prstGeom>
          <a:solidFill>
            <a:srgbClr val="43C9C0"/>
          </a:solidFill>
          <a:ln>
            <a:noFill/>
          </a:ln>
        </p:spPr>
      </p:sp>
      <p:sp>
        <p:nvSpPr>
          <p:cNvPr id="55" name="an-v0"/>
          <p:cNvSpPr txBox="1"/>
          <p:nvPr/>
        </p:nvSpPr>
        <p:spPr>
          <a:xfrm>
            <a:off x="855662" y="2997200"/>
            <a:ext cx="1917700" cy="98425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9200"/>
              </a:lnSpc>
              <a:buNone/>
            </a:pPr>
            <a:r>
              <a:rPr lang="en-US" sz="75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5</a:t>
            </a:r>
            <a:endParaRPr lang="en-US" sz="7500" dirty="0"/>
          </a:p>
        </p:txBody>
      </p:sp>
      <p:sp>
        <p:nvSpPr>
          <p:cNvPr id="56" name="an-l0"/>
          <p:cNvSpPr txBox="1"/>
          <p:nvPr/>
        </p:nvSpPr>
        <p:spPr>
          <a:xfrm>
            <a:off x="873684" y="4426128"/>
            <a:ext cx="1670050" cy="2982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60"/>
              </a:lnSpc>
              <a:buNone/>
            </a:pPr>
            <a:r>
              <a:rPr lang="en-US" sz="1800" dirty="0">
                <a:solidFill>
                  <a:srgbClr val="F2F4F6"/>
                </a:solidFill>
                <a:latin typeface="Barlow SemiBold"/>
                <a:ea typeface="Barlow SemiBold"/>
                <a:cs typeface="Barlow SemiBold"/>
              </a:rPr>
              <a:t>places it runs</a:t>
            </a:r>
            <a:endParaRPr lang="en-US" sz="1800" dirty="0"/>
          </a:p>
        </p:txBody>
      </p:sp>
      <p:sp>
        <p:nvSpPr>
          <p:cNvPr id="57" name="an-d0"/>
          <p:cNvSpPr txBox="1"/>
          <p:nvPr/>
        </p:nvSpPr>
        <p:spPr>
          <a:xfrm>
            <a:off x="889000" y="4823612"/>
            <a:ext cx="2324100" cy="650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Windows, Linux, macOS, Docker, Raspberry Pi</a:t>
            </a:r>
            <a:endParaRPr lang="en-US" sz="1400" dirty="0"/>
          </a:p>
        </p:txBody>
      </p:sp>
      <p:sp>
        <p:nvSpPr>
          <p:cNvPr id="58" name="an-rule1"/>
          <p:cNvSpPr/>
          <p:nvPr/>
        </p:nvSpPr>
        <p:spPr>
          <a:xfrm>
            <a:off x="3543300" y="3054350"/>
            <a:ext cx="2451100" cy="38100"/>
          </a:xfrm>
          <a:prstGeom prst="rect">
            <a:avLst/>
          </a:prstGeom>
          <a:solidFill>
            <a:srgbClr val="35E07F"/>
          </a:solidFill>
          <a:ln>
            <a:noFill/>
          </a:ln>
        </p:spPr>
      </p:sp>
      <p:sp>
        <p:nvSpPr>
          <p:cNvPr id="59" name="an-v1"/>
          <p:cNvSpPr txBox="1"/>
          <p:nvPr/>
        </p:nvSpPr>
        <p:spPr>
          <a:xfrm>
            <a:off x="3518535" y="2997200"/>
            <a:ext cx="1930400" cy="990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9200"/>
              </a:lnSpc>
              <a:buNone/>
            </a:pPr>
            <a:r>
              <a:rPr lang="en-US" sz="75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3</a:t>
            </a:r>
            <a:endParaRPr lang="en-US" sz="7500" dirty="0"/>
          </a:p>
        </p:txBody>
      </p:sp>
      <p:sp>
        <p:nvSpPr>
          <p:cNvPr id="60" name="an-l1"/>
          <p:cNvSpPr txBox="1"/>
          <p:nvPr/>
        </p:nvSpPr>
        <p:spPr>
          <a:xfrm>
            <a:off x="3532099" y="4426128"/>
            <a:ext cx="2198688" cy="260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60"/>
              </a:lnSpc>
              <a:buNone/>
            </a:pPr>
            <a:r>
              <a:rPr lang="en-US" sz="1800" dirty="0">
                <a:solidFill>
                  <a:srgbClr val="F2F4F6"/>
                </a:solidFill>
                <a:latin typeface="Barlow SemiBold"/>
                <a:ea typeface="Barlow SemiBold"/>
                <a:cs typeface="Barlow SemiBold"/>
              </a:rPr>
              <a:t>database choices</a:t>
            </a:r>
            <a:endParaRPr lang="en-US" sz="1800" dirty="0"/>
          </a:p>
        </p:txBody>
      </p:sp>
      <p:sp>
        <p:nvSpPr>
          <p:cNvPr id="61" name="an-d1"/>
          <p:cNvSpPr txBox="1"/>
          <p:nvPr/>
        </p:nvSpPr>
        <p:spPr>
          <a:xfrm>
            <a:off x="3543300" y="4823612"/>
            <a:ext cx="2324100" cy="650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SQLite built in, or PostgreSQL / MySQL</a:t>
            </a:r>
            <a:endParaRPr lang="en-US" sz="1400" dirty="0"/>
          </a:p>
        </p:txBody>
      </p:sp>
      <p:sp>
        <p:nvSpPr>
          <p:cNvPr id="62" name="an-rule2"/>
          <p:cNvSpPr/>
          <p:nvPr/>
        </p:nvSpPr>
        <p:spPr>
          <a:xfrm>
            <a:off x="6197600" y="3054350"/>
            <a:ext cx="2451100" cy="38100"/>
          </a:xfrm>
          <a:prstGeom prst="rect">
            <a:avLst/>
          </a:prstGeom>
          <a:solidFill>
            <a:srgbClr val="FFC542"/>
          </a:solidFill>
          <a:ln>
            <a:noFill/>
          </a:ln>
        </p:spPr>
      </p:sp>
      <p:sp>
        <p:nvSpPr>
          <p:cNvPr id="63" name="an-v2"/>
          <p:cNvSpPr txBox="1"/>
          <p:nvPr/>
        </p:nvSpPr>
        <p:spPr>
          <a:xfrm>
            <a:off x="6169025" y="3010535"/>
            <a:ext cx="1924050" cy="9899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9200"/>
              </a:lnSpc>
              <a:buNone/>
            </a:pPr>
            <a:r>
              <a:rPr lang="en-US" sz="75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8</a:t>
            </a:r>
            <a:endParaRPr lang="en-US" sz="7500" dirty="0"/>
          </a:p>
        </p:txBody>
      </p:sp>
      <p:sp>
        <p:nvSpPr>
          <p:cNvPr id="64" name="an-l2"/>
          <p:cNvSpPr txBox="1"/>
          <p:nvPr/>
        </p:nvSpPr>
        <p:spPr>
          <a:xfrm>
            <a:off x="6191885" y="4426128"/>
            <a:ext cx="1738312" cy="30462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60"/>
              </a:lnSpc>
              <a:buNone/>
            </a:pPr>
            <a:r>
              <a:rPr lang="en-US" sz="1800" dirty="0">
                <a:solidFill>
                  <a:srgbClr val="F2F4F6"/>
                </a:solidFill>
                <a:latin typeface="Barlow SemiBold"/>
                <a:ea typeface="Barlow SemiBold"/>
                <a:cs typeface="Barlow SemiBold"/>
              </a:rPr>
              <a:t>ways to notify</a:t>
            </a:r>
            <a:endParaRPr lang="en-US" sz="1800" dirty="0"/>
          </a:p>
        </p:txBody>
      </p:sp>
      <p:sp>
        <p:nvSpPr>
          <p:cNvPr id="65" name="an-d2"/>
          <p:cNvSpPr txBox="1"/>
          <p:nvPr/>
        </p:nvSpPr>
        <p:spPr>
          <a:xfrm>
            <a:off x="6197600" y="4823612"/>
            <a:ext cx="2324100" cy="9612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Email, Webhooks, Slack, Teams, ntfy, Pushover, git and scripts</a:t>
            </a:r>
            <a:endParaRPr lang="en-US" sz="1400" dirty="0"/>
          </a:p>
        </p:txBody>
      </p:sp>
      <p:sp>
        <p:nvSpPr>
          <p:cNvPr id="66" name="an-rule3"/>
          <p:cNvSpPr/>
          <p:nvPr/>
        </p:nvSpPr>
        <p:spPr>
          <a:xfrm>
            <a:off x="8851900" y="3054350"/>
            <a:ext cx="2451100" cy="38100"/>
          </a:xfrm>
          <a:prstGeom prst="rect">
            <a:avLst/>
          </a:prstGeom>
          <a:solidFill>
            <a:srgbClr val="D3A32E"/>
          </a:solidFill>
          <a:ln>
            <a:noFill/>
          </a:ln>
        </p:spPr>
      </p:sp>
      <p:sp>
        <p:nvSpPr>
          <p:cNvPr id="67" name="an-v3"/>
          <p:cNvSpPr txBox="1"/>
          <p:nvPr/>
        </p:nvSpPr>
        <p:spPr>
          <a:xfrm>
            <a:off x="8815705" y="3004820"/>
            <a:ext cx="1936750" cy="995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9200"/>
              </a:lnSpc>
              <a:buNone/>
            </a:pPr>
            <a:r>
              <a:rPr lang="en-US" sz="75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0</a:t>
            </a:r>
            <a:endParaRPr lang="en-US" sz="7500" dirty="0"/>
          </a:p>
        </p:txBody>
      </p:sp>
      <p:sp>
        <p:nvSpPr>
          <p:cNvPr id="68" name="an-l3"/>
          <p:cNvSpPr txBox="1"/>
          <p:nvPr/>
        </p:nvSpPr>
        <p:spPr>
          <a:xfrm>
            <a:off x="8840927" y="4420870"/>
            <a:ext cx="1905000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360"/>
              </a:lnSpc>
              <a:buNone/>
            </a:pPr>
            <a:r>
              <a:rPr lang="en-US" sz="1800" dirty="0">
                <a:solidFill>
                  <a:srgbClr val="F2F4F6"/>
                </a:solidFill>
                <a:latin typeface="Barlow SemiBold"/>
                <a:ea typeface="Barlow SemiBold"/>
                <a:cs typeface="Barlow SemiBold"/>
              </a:rPr>
              <a:t>cloud accounts</a:t>
            </a:r>
            <a:endParaRPr lang="en-US" sz="1800" dirty="0"/>
          </a:p>
        </p:txBody>
      </p:sp>
      <p:sp>
        <p:nvSpPr>
          <p:cNvPr id="69" name="an-d3"/>
          <p:cNvSpPr txBox="1"/>
          <p:nvPr/>
        </p:nvSpPr>
        <p:spPr>
          <a:xfrm>
            <a:off x="8851900" y="4823612"/>
            <a:ext cx="2324100" cy="3452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Nothing leaves your network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eta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527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7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be-kicker"/>
          <p:cNvSpPr txBox="1"/>
          <p:nvPr/>
        </p:nvSpPr>
        <p:spPr>
          <a:xfrm>
            <a:off x="882561" y="817372"/>
            <a:ext cx="1035050" cy="1922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THE BETA</a:t>
            </a:r>
            <a:endParaRPr lang="en-US" sz="1300" dirty="0"/>
          </a:p>
        </p:txBody>
      </p:sp>
      <p:sp>
        <p:nvSpPr>
          <p:cNvPr id="53" name="be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5730875" cy="13103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It works. Now help</a:t>
            </a:r>
            <a:endParaRPr lang="en-US" sz="4400" dirty="0"/>
          </a:p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us </a:t>
            </a: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make it great.</a:t>
            </a:r>
            <a:endParaRPr lang="en-US" sz="4400" dirty="0"/>
          </a:p>
        </p:txBody>
      </p:sp>
      <p:sp>
        <p:nvSpPr>
          <p:cNvPr id="54" name="be-card0"/>
          <p:cNvSpPr/>
          <p:nvPr/>
        </p:nvSpPr>
        <p:spPr>
          <a:xfrm>
            <a:off x="901700" y="3003550"/>
            <a:ext cx="3308350" cy="2133600"/>
          </a:xfrm>
          <a:prstGeom prst="roundRect">
            <a:avLst>
              <a:gd name="adj" fmla="val 3869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55" name="be-bar0"/>
          <p:cNvSpPr/>
          <p:nvPr/>
        </p:nvSpPr>
        <p:spPr>
          <a:xfrm>
            <a:off x="889000" y="2990850"/>
            <a:ext cx="50800" cy="2159000"/>
          </a:xfrm>
          <a:prstGeom prst="rect">
            <a:avLst/>
          </a:prstGeom>
          <a:solidFill>
            <a:srgbClr val="FF5C5C"/>
          </a:solidFill>
          <a:ln>
            <a:noFill/>
          </a:ln>
        </p:spPr>
      </p:sp>
      <p:sp>
        <p:nvSpPr>
          <p:cNvPr id="56" name="be-t0"/>
          <p:cNvSpPr txBox="1"/>
          <p:nvPr/>
        </p:nvSpPr>
        <p:spPr>
          <a:xfrm>
            <a:off x="1179487" y="3206128"/>
            <a:ext cx="2184400" cy="3752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960"/>
              </a:lnSpc>
              <a:buNone/>
            </a:pPr>
            <a:r>
              <a:rPr lang="en-US" sz="23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Find the bugs</a:t>
            </a:r>
            <a:endParaRPr lang="en-US" sz="2300" dirty="0"/>
          </a:p>
        </p:txBody>
      </p:sp>
      <p:sp>
        <p:nvSpPr>
          <p:cNvPr id="57" name="be-d0"/>
          <p:cNvSpPr txBox="1"/>
          <p:nvPr/>
        </p:nvSpPr>
        <p:spPr>
          <a:xfrm>
            <a:off x="1193800" y="3754374"/>
            <a:ext cx="27241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Anything that looks wrong, reads wrong or stops working.</a:t>
            </a:r>
            <a:endParaRPr lang="en-US" sz="1500" dirty="0"/>
          </a:p>
        </p:txBody>
      </p:sp>
      <p:sp>
        <p:nvSpPr>
          <p:cNvPr id="58" name="be-card1"/>
          <p:cNvSpPr/>
          <p:nvPr/>
        </p:nvSpPr>
        <p:spPr>
          <a:xfrm>
            <a:off x="4438650" y="3003550"/>
            <a:ext cx="3308350" cy="2133600"/>
          </a:xfrm>
          <a:prstGeom prst="roundRect">
            <a:avLst>
              <a:gd name="adj" fmla="val 3869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59" name="be-bar1"/>
          <p:cNvSpPr/>
          <p:nvPr/>
        </p:nvSpPr>
        <p:spPr>
          <a:xfrm>
            <a:off x="4425950" y="2990850"/>
            <a:ext cx="50800" cy="2159000"/>
          </a:xfrm>
          <a:prstGeom prst="rect">
            <a:avLst/>
          </a:prstGeom>
          <a:solidFill>
            <a:srgbClr val="FFC542"/>
          </a:solidFill>
          <a:ln>
            <a:noFill/>
          </a:ln>
        </p:spPr>
      </p:sp>
      <p:sp>
        <p:nvSpPr>
          <p:cNvPr id="60" name="be-t1"/>
          <p:cNvSpPr txBox="1"/>
          <p:nvPr/>
        </p:nvSpPr>
        <p:spPr>
          <a:xfrm>
            <a:off x="4721987" y="3197657"/>
            <a:ext cx="3468688" cy="37739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960"/>
              </a:lnSpc>
              <a:buNone/>
            </a:pPr>
            <a:r>
              <a:rPr lang="en-US" sz="23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Spot the rough edges</a:t>
            </a:r>
            <a:endParaRPr lang="en-US" sz="2300" dirty="0"/>
          </a:p>
        </p:txBody>
      </p:sp>
      <p:sp>
        <p:nvSpPr>
          <p:cNvPr id="61" name="be-d1"/>
          <p:cNvSpPr txBox="1"/>
          <p:nvPr/>
        </p:nvSpPr>
        <p:spPr>
          <a:xfrm>
            <a:off x="4730750" y="3754374"/>
            <a:ext cx="27241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The screen that confused you, the setting you couldn't find.</a:t>
            </a:r>
            <a:endParaRPr lang="en-US" sz="1500" dirty="0"/>
          </a:p>
        </p:txBody>
      </p:sp>
      <p:sp>
        <p:nvSpPr>
          <p:cNvPr id="62" name="be-card2"/>
          <p:cNvSpPr/>
          <p:nvPr/>
        </p:nvSpPr>
        <p:spPr>
          <a:xfrm>
            <a:off x="7981950" y="3003550"/>
            <a:ext cx="3308350" cy="2133600"/>
          </a:xfrm>
          <a:prstGeom prst="roundRect">
            <a:avLst>
              <a:gd name="adj" fmla="val 3869"/>
            </a:avLst>
          </a:prstGeom>
          <a:solidFill>
            <a:srgbClr val="16181D"/>
          </a:solidFill>
          <a:ln w="12700">
            <a:solidFill>
              <a:srgbClr val="FFFFFF">
                <a:alpha val="7059"/>
              </a:srgbClr>
            </a:solidFill>
          </a:ln>
        </p:spPr>
      </p:sp>
      <p:sp>
        <p:nvSpPr>
          <p:cNvPr id="63" name="be-bar2"/>
          <p:cNvSpPr/>
          <p:nvPr/>
        </p:nvSpPr>
        <p:spPr>
          <a:xfrm>
            <a:off x="7969250" y="2990850"/>
            <a:ext cx="50800" cy="2159000"/>
          </a:xfrm>
          <a:prstGeom prst="rect">
            <a:avLst/>
          </a:prstGeom>
          <a:solidFill>
            <a:srgbClr val="35E07F"/>
          </a:solidFill>
          <a:ln>
            <a:noFill/>
          </a:ln>
        </p:spPr>
      </p:sp>
      <p:sp>
        <p:nvSpPr>
          <p:cNvPr id="64" name="be-t2"/>
          <p:cNvSpPr txBox="1"/>
          <p:nvPr/>
        </p:nvSpPr>
        <p:spPr>
          <a:xfrm>
            <a:off x="8266981" y="3195479"/>
            <a:ext cx="2651125" cy="32242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960"/>
              </a:lnSpc>
              <a:buNone/>
            </a:pPr>
            <a:r>
              <a:rPr lang="en-US" sz="23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Ask for features</a:t>
            </a:r>
            <a:endParaRPr lang="en-US" sz="2300" dirty="0"/>
          </a:p>
        </p:txBody>
      </p:sp>
      <p:sp>
        <p:nvSpPr>
          <p:cNvPr id="65" name="be-d2"/>
          <p:cNvSpPr txBox="1"/>
          <p:nvPr/>
        </p:nvSpPr>
        <p:spPr>
          <a:xfrm>
            <a:off x="8274050" y="3754374"/>
            <a:ext cx="27241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What would make GWatch the one you'd recommend?</a:t>
            </a:r>
            <a:endParaRPr lang="en-US" sz="1500" dirty="0"/>
          </a:p>
        </p:txBody>
      </p:sp>
      <p:sp>
        <p:nvSpPr>
          <p:cNvPr id="66" name="be-note"/>
          <p:cNvSpPr txBox="1"/>
          <p:nvPr/>
        </p:nvSpPr>
        <p:spPr>
          <a:xfrm>
            <a:off x="889000" y="5405374"/>
            <a:ext cx="10414000" cy="3667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Beta builds are signed, update themselves, and back up with one click, so trying it is low-risk.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oin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m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2" name="m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3" name="m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7451"/>
                </a:srgbClr>
              </a:solidFill>
            </a:ln>
          </p:spPr>
        </p:sp>
        <p:sp>
          <p:nvSpPr>
            <p:cNvPr id="4" name="m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6275"/>
                </a:srgbClr>
              </a:solidFill>
            </a:ln>
          </p:spPr>
        </p:sp>
        <p:sp>
          <p:nvSpPr>
            <p:cNvPr id="5" name="m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6" name="m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5098"/>
                </a:srgbClr>
              </a:solidFill>
            </a:ln>
          </p:spPr>
        </p:sp>
        <p:sp>
          <p:nvSpPr>
            <p:cNvPr id="7" name="m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8" name="m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9" name="m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32157"/>
              </a:srgbClr>
            </a:solidFill>
            <a:ln>
              <a:noFill/>
            </a:ln>
          </p:spPr>
        </p:sp>
        <p:sp>
          <p:nvSpPr>
            <p:cNvPr id="10" name="m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1" name="m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12" name="m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16471"/>
              </a:srgbClr>
            </a:solidFill>
            <a:ln>
              <a:noFill/>
            </a:ln>
          </p:spPr>
        </p:sp>
        <p:sp>
          <p:nvSpPr>
            <p:cNvPr id="13" name="m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14" name="m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15" name="m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27059"/>
              </a:srgbClr>
            </a:solidFill>
            <a:ln>
              <a:noFill/>
            </a:ln>
          </p:spPr>
        </p:sp>
        <p:sp>
          <p:nvSpPr>
            <p:cNvPr id="16" name="m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17" name="m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11765"/>
              </a:srgbClr>
            </a:solidFill>
            <a:ln>
              <a:noFill/>
            </a:ln>
          </p:spPr>
        </p:sp>
        <p:sp>
          <p:nvSpPr>
            <p:cNvPr id="18" name="m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19" name="m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17647"/>
              </a:srgbClr>
            </a:solidFill>
            <a:ln>
              <a:noFill/>
            </a:ln>
          </p:spPr>
        </p:sp>
        <p:sp>
          <p:nvSpPr>
            <p:cNvPr id="20" name="m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1" name="m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22" name="m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14510"/>
              </a:srgbClr>
            </a:solidFill>
            <a:ln>
              <a:noFill/>
            </a:ln>
          </p:spPr>
        </p:sp>
        <p:sp>
          <p:nvSpPr>
            <p:cNvPr id="23" name="m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4" name="m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5" name="m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26" name="m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27" name="m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  <p:sp>
          <p:nvSpPr>
            <p:cNvPr id="28" name="m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29" name="m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30" name="m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14118"/>
              </a:srgbClr>
            </a:solidFill>
            <a:ln>
              <a:noFill/>
            </a:ln>
          </p:spPr>
        </p:sp>
        <p:sp>
          <p:nvSpPr>
            <p:cNvPr id="31" name="m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23529"/>
              </a:srgbClr>
            </a:solidFill>
            <a:ln>
              <a:noFill/>
            </a:ln>
          </p:spPr>
        </p:sp>
        <p:sp>
          <p:nvSpPr>
            <p:cNvPr id="32" name="m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3" name="m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4" name="m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28235"/>
              </a:srgbClr>
            </a:solidFill>
            <a:ln>
              <a:noFill/>
            </a:ln>
          </p:spPr>
        </p:sp>
        <p:sp>
          <p:nvSpPr>
            <p:cNvPr id="35" name="m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36" name="m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37" name="m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22353"/>
              </a:srgbClr>
            </a:solidFill>
            <a:ln>
              <a:noFill/>
            </a:ln>
          </p:spPr>
        </p:sp>
        <p:sp>
          <p:nvSpPr>
            <p:cNvPr id="38" name="m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0588"/>
              </a:srgbClr>
            </a:solidFill>
            <a:ln>
              <a:noFill/>
            </a:ln>
          </p:spPr>
        </p:sp>
        <p:sp>
          <p:nvSpPr>
            <p:cNvPr id="39" name="m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29412"/>
              </a:srgbClr>
            </a:solidFill>
            <a:ln>
              <a:noFill/>
            </a:ln>
          </p:spPr>
        </p:sp>
        <p:sp>
          <p:nvSpPr>
            <p:cNvPr id="40" name="m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12941"/>
              </a:srgbClr>
            </a:solidFill>
            <a:ln>
              <a:noFill/>
            </a:ln>
          </p:spPr>
        </p:sp>
        <p:sp>
          <p:nvSpPr>
            <p:cNvPr id="41" name="m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24706"/>
              </a:srgbClr>
            </a:solidFill>
            <a:ln>
              <a:noFill/>
            </a:ln>
          </p:spPr>
        </p:sp>
      </p:grpSp>
      <p:sp>
        <p:nvSpPr>
          <p:cNvPr id="43" name="m-num"/>
          <p:cNvSpPr txBox="1"/>
          <p:nvPr/>
        </p:nvSpPr>
        <p:spPr>
          <a:xfrm>
            <a:off x="11101527" y="6181395"/>
            <a:ext cx="311150" cy="1749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36"/>
              </a:lnSpc>
              <a:buNone/>
            </a:pPr>
            <a:r>
              <a:rPr lang="en-US" sz="1200" dirty="0">
                <a:solidFill>
                  <a:srgbClr val="9EA7AF"/>
                </a:solidFill>
                <a:latin typeface="Kode Mono"/>
                <a:ea typeface="Kode Mono"/>
                <a:cs typeface="Kode Mono"/>
              </a:rPr>
              <a:t>8</a:t>
            </a:r>
            <a:endParaRPr lang="en-US" sz="1200" dirty="0"/>
          </a:p>
        </p:txBody>
      </p:sp>
      <p:grpSp>
        <p:nvGrpSpPr>
          <p:cNvPr id="51" name="m-mark"/>
          <p:cNvGrpSpPr/>
          <p:nvPr/>
        </p:nvGrpSpPr>
        <p:grpSpPr>
          <a:xfrm>
            <a:off x="889000" y="6096000"/>
            <a:ext cx="304800" cy="304800"/>
            <a:chOff x="0" y="0"/>
            <a:chExt cx="304800" cy="304800"/>
          </a:xfrm>
        </p:grpSpPr>
        <p:sp>
          <p:nvSpPr>
            <p:cNvPr id="44" name="m-mark-c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611" y="2092"/>
                  </a:moveTo>
                  <a:cubicBezTo>
                    <a:pt x="611" y="2910"/>
                    <a:pt x="1274" y="3574"/>
                    <a:pt x="2092" y="3574"/>
                  </a:cubicBezTo>
                  <a:cubicBezTo>
                    <a:pt x="2911" y="3574"/>
                    <a:pt x="3574" y="2910"/>
                    <a:pt x="3574" y="2092"/>
                  </a:cubicBezTo>
                  <a:cubicBezTo>
                    <a:pt x="3574" y="1274"/>
                    <a:pt x="2911" y="610"/>
                    <a:pt x="2093" y="610"/>
                  </a:cubicBezTo>
                  <a:cubicBezTo>
                    <a:pt x="1274" y="610"/>
                    <a:pt x="611" y="1274"/>
                    <a:pt x="611" y="2092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m-mark-c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271" y="2115"/>
                  </a:moveTo>
                  <a:cubicBezTo>
                    <a:pt x="1271" y="2589"/>
                    <a:pt x="1656" y="2974"/>
                    <a:pt x="2130" y="2974"/>
                  </a:cubicBezTo>
                  <a:cubicBezTo>
                    <a:pt x="2604" y="2974"/>
                    <a:pt x="2989" y="2589"/>
                    <a:pt x="2989" y="2115"/>
                  </a:cubicBezTo>
                  <a:cubicBezTo>
                    <a:pt x="2989" y="1641"/>
                    <a:pt x="2604" y="1256"/>
                    <a:pt x="2130" y="1256"/>
                  </a:cubicBezTo>
                  <a:cubicBezTo>
                    <a:pt x="1656" y="1256"/>
                    <a:pt x="1271" y="1641"/>
                    <a:pt x="1271" y="2115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m-mark-c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1658" y="2134"/>
                  </a:moveTo>
                  <a:cubicBezTo>
                    <a:pt x="1658" y="2397"/>
                    <a:pt x="1871" y="2610"/>
                    <a:pt x="2134" y="2610"/>
                  </a:cubicBezTo>
                  <a:cubicBezTo>
                    <a:pt x="2397" y="2610"/>
                    <a:pt x="2610" y="2397"/>
                    <a:pt x="2610" y="2134"/>
                  </a:cubicBezTo>
                  <a:cubicBezTo>
                    <a:pt x="2610" y="1871"/>
                    <a:pt x="2397" y="1658"/>
                    <a:pt x="2134" y="1658"/>
                  </a:cubicBezTo>
                  <a:cubicBezTo>
                    <a:pt x="1871" y="1658"/>
                    <a:pt x="1658" y="1871"/>
                    <a:pt x="1658" y="2134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m-mark-c3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2220" y="1935"/>
                  </a:moveTo>
                  <a:cubicBezTo>
                    <a:pt x="2220" y="2010"/>
                    <a:pt x="2280" y="2070"/>
                    <a:pt x="2355" y="2070"/>
                  </a:cubicBezTo>
                  <a:cubicBezTo>
                    <a:pt x="2430" y="2070"/>
                    <a:pt x="2490" y="2010"/>
                    <a:pt x="2490" y="1935"/>
                  </a:cubicBezTo>
                  <a:cubicBezTo>
                    <a:pt x="2490" y="1860"/>
                    <a:pt x="2430" y="1800"/>
                    <a:pt x="2355" y="1800"/>
                  </a:cubicBezTo>
                  <a:cubicBezTo>
                    <a:pt x="2280" y="1800"/>
                    <a:pt x="2220" y="1860"/>
                    <a:pt x="2220" y="1935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m-mark-s0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795" y="2003"/>
                  </a:moveTo>
                  <a:cubicBezTo>
                    <a:pt x="3840" y="2866"/>
                    <a:pt x="3233" y="3626"/>
                    <a:pt x="2381" y="3773"/>
                  </a:cubicBezTo>
                  <a:cubicBezTo>
                    <a:pt x="1529" y="3919"/>
                    <a:pt x="703" y="3405"/>
                    <a:pt x="458" y="2577"/>
                  </a:cubicBezTo>
                  <a:cubicBezTo>
                    <a:pt x="212" y="1748"/>
                    <a:pt x="625" y="867"/>
                    <a:pt x="1419" y="526"/>
                  </a:cubicBezTo>
                  <a:cubicBezTo>
                    <a:pt x="2213" y="185"/>
                    <a:pt x="3137" y="492"/>
                    <a:pt x="3569" y="1240"/>
                  </a:cubicBezTo>
                </a:path>
              </a:pathLst>
            </a:custGeom>
            <a:noFill/>
            <a:ln w="31750" cap="rnd">
              <a:solidFill>
                <a:srgbClr val="F2F4F6"/>
              </a:solidFill>
              <a:round/>
            </a:ln>
          </p:spPr>
        </p:sp>
        <p:sp>
          <p:nvSpPr>
            <p:cNvPr id="49" name="m-mark-s1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334" y="2205"/>
                  </a:moveTo>
                  <a:lnTo>
                    <a:pt x="3810" y="2205"/>
                  </a:lnTo>
                </a:path>
              </a:pathLst>
            </a:custGeom>
            <a:noFill/>
            <a:ln w="25400" cap="rnd">
              <a:solidFill>
                <a:srgbClr val="F2F4F6"/>
              </a:solidFill>
              <a:round/>
            </a:ln>
          </p:spPr>
        </p:sp>
        <p:sp>
          <p:nvSpPr>
            <p:cNvPr id="50" name="m-mark-s2"/>
            <p:cNvSpPr/>
            <p:nvPr/>
          </p:nvSpPr>
          <p:spPr>
            <a:xfrm>
              <a:off x="0" y="0"/>
              <a:ext cx="304800" cy="304800"/>
            </a:xfrm>
            <a:custGeom>
              <a:avLst/>
              <a:gdLst/>
              <a:ahLst/>
              <a:cxnLst/>
              <a:rect l="0" t="0" r="r" b="b"/>
              <a:pathLst>
                <a:path w="4800" h="4800">
                  <a:moveTo>
                    <a:pt x="3542" y="3548"/>
                  </a:moveTo>
                  <a:lnTo>
                    <a:pt x="4334" y="4345"/>
                  </a:lnTo>
                </a:path>
              </a:pathLst>
            </a:custGeom>
            <a:noFill/>
            <a:ln w="38100" cap="rnd">
              <a:solidFill>
                <a:srgbClr val="F2F4F6"/>
              </a:solidFill>
              <a:round/>
            </a:ln>
          </p:spPr>
        </p:sp>
      </p:grpSp>
      <p:sp>
        <p:nvSpPr>
          <p:cNvPr id="52" name="jo-kicker"/>
          <p:cNvSpPr txBox="1"/>
          <p:nvPr/>
        </p:nvSpPr>
        <p:spPr>
          <a:xfrm>
            <a:off x="877278" y="817372"/>
            <a:ext cx="1349375" cy="2049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864"/>
              </a:lnSpc>
              <a:buNone/>
            </a:pPr>
            <a:r>
              <a:rPr lang="en-US" sz="13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HOW TO JOIN</a:t>
            </a:r>
            <a:endParaRPr lang="en-US" sz="1300" dirty="0"/>
          </a:p>
        </p:txBody>
      </p:sp>
      <p:sp>
        <p:nvSpPr>
          <p:cNvPr id="53" name="jo-title"/>
          <p:cNvSpPr>
            <a:spLocks noGrp="1"/>
          </p:cNvSpPr>
          <p:nvPr>
            <p:ph type="title"/>
          </p:nvPr>
        </p:nvSpPr>
        <p:spPr>
          <a:xfrm>
            <a:off x="889000" y="1235964"/>
            <a:ext cx="8040688" cy="64998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2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Three steps. </a:t>
            </a:r>
            <a:r>
              <a:rPr lang="en-US" sz="44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Ten minutes.</a:t>
            </a:r>
            <a:endParaRPr lang="en-US" sz="4400" dirty="0"/>
          </a:p>
        </p:txBody>
      </p:sp>
      <p:sp>
        <p:nvSpPr>
          <p:cNvPr id="54" name="jo-n0"/>
          <p:cNvSpPr txBox="1"/>
          <p:nvPr/>
        </p:nvSpPr>
        <p:spPr>
          <a:xfrm>
            <a:off x="860044" y="2146046"/>
            <a:ext cx="1816100" cy="80035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7400"/>
              </a:lnSpc>
              <a:buNone/>
            </a:pPr>
            <a:r>
              <a:rPr lang="en-US" sz="6000" dirty="0">
                <a:solidFill>
                  <a:srgbClr val="D3A32E"/>
                </a:solidFill>
                <a:latin typeface="Barlow ExtraBold"/>
                <a:ea typeface="Barlow ExtraBold"/>
                <a:cs typeface="Barlow ExtraBold"/>
              </a:rPr>
              <a:t>01</a:t>
            </a:r>
            <a:endParaRPr lang="en-US" sz="6000" dirty="0"/>
          </a:p>
        </p:txBody>
      </p:sp>
      <p:sp>
        <p:nvSpPr>
          <p:cNvPr id="55" name="jo-t0"/>
          <p:cNvSpPr txBox="1"/>
          <p:nvPr/>
        </p:nvSpPr>
        <p:spPr>
          <a:xfrm>
            <a:off x="875932" y="3306674"/>
            <a:ext cx="1758950" cy="30012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20"/>
              </a:lnSpc>
              <a:buNone/>
            </a:pPr>
            <a:r>
              <a:rPr lang="en-US" sz="21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Install 0.6.0</a:t>
            </a:r>
            <a:endParaRPr lang="en-US" sz="2100" dirty="0"/>
          </a:p>
        </p:txBody>
      </p:sp>
      <p:sp>
        <p:nvSpPr>
          <p:cNvPr id="56" name="jo-d0"/>
          <p:cNvSpPr txBox="1"/>
          <p:nvPr/>
        </p:nvSpPr>
        <p:spPr>
          <a:xfrm>
            <a:off x="889000" y="3792474"/>
            <a:ext cx="32067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Windows installer, Docker image or Linux/macOS build, signed and free.</a:t>
            </a:r>
            <a:endParaRPr lang="en-US" sz="1500" dirty="0"/>
          </a:p>
        </p:txBody>
      </p:sp>
      <p:sp>
        <p:nvSpPr>
          <p:cNvPr id="57" name="jo-n1"/>
          <p:cNvSpPr txBox="1"/>
          <p:nvPr/>
        </p:nvSpPr>
        <p:spPr>
          <a:xfrm>
            <a:off x="4396994" y="2146046"/>
            <a:ext cx="1987550" cy="80035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7400"/>
              </a:lnSpc>
              <a:buNone/>
            </a:pPr>
            <a:r>
              <a:rPr lang="en-US" sz="6000" dirty="0">
                <a:solidFill>
                  <a:srgbClr val="D3A32E"/>
                </a:solidFill>
                <a:latin typeface="Barlow ExtraBold"/>
                <a:ea typeface="Barlow ExtraBold"/>
                <a:cs typeface="Barlow ExtraBold"/>
              </a:rPr>
              <a:t>02</a:t>
            </a:r>
            <a:endParaRPr lang="en-US" sz="6000" dirty="0"/>
          </a:p>
        </p:txBody>
      </p:sp>
      <p:sp>
        <p:nvSpPr>
          <p:cNvPr id="58" name="jo-t1"/>
          <p:cNvSpPr txBox="1"/>
          <p:nvPr/>
        </p:nvSpPr>
        <p:spPr>
          <a:xfrm>
            <a:off x="4420083" y="3304540"/>
            <a:ext cx="3611562" cy="3467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20"/>
              </a:lnSpc>
              <a:buNone/>
            </a:pPr>
            <a:r>
              <a:rPr lang="en-US" sz="21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Watch your real network</a:t>
            </a:r>
            <a:endParaRPr lang="en-US" sz="2100" dirty="0"/>
          </a:p>
        </p:txBody>
      </p:sp>
      <p:sp>
        <p:nvSpPr>
          <p:cNvPr id="59" name="jo-d1"/>
          <p:cNvSpPr txBox="1"/>
          <p:nvPr/>
        </p:nvSpPr>
        <p:spPr>
          <a:xfrm>
            <a:off x="4425950" y="3792474"/>
            <a:ext cx="32067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Your router, NAS, Pi-hole, websites and APIs: whatever you run.</a:t>
            </a:r>
            <a:endParaRPr lang="en-US" sz="1500" dirty="0"/>
          </a:p>
        </p:txBody>
      </p:sp>
      <p:sp>
        <p:nvSpPr>
          <p:cNvPr id="60" name="jo-n2"/>
          <p:cNvSpPr txBox="1"/>
          <p:nvPr/>
        </p:nvSpPr>
        <p:spPr>
          <a:xfrm>
            <a:off x="7940294" y="2146046"/>
            <a:ext cx="1968500" cy="80035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7400"/>
              </a:lnSpc>
              <a:buNone/>
            </a:pPr>
            <a:r>
              <a:rPr lang="en-US" sz="6000" dirty="0">
                <a:solidFill>
                  <a:srgbClr val="D3A32E"/>
                </a:solidFill>
                <a:latin typeface="Barlow ExtraBold"/>
                <a:ea typeface="Barlow ExtraBold"/>
                <a:cs typeface="Barlow ExtraBold"/>
              </a:rPr>
              <a:t>03</a:t>
            </a:r>
            <a:endParaRPr lang="en-US" sz="6000" dirty="0"/>
          </a:p>
        </p:txBody>
      </p:sp>
      <p:sp>
        <p:nvSpPr>
          <p:cNvPr id="61" name="jo-t2"/>
          <p:cNvSpPr txBox="1"/>
          <p:nvPr/>
        </p:nvSpPr>
        <p:spPr>
          <a:xfrm>
            <a:off x="7963116" y="3314408"/>
            <a:ext cx="2595562" cy="34954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720"/>
              </a:lnSpc>
              <a:buNone/>
            </a:pPr>
            <a:r>
              <a:rPr lang="en-US" sz="2100" dirty="0">
                <a:solidFill>
                  <a:srgbClr val="F2F4F6"/>
                </a:solidFill>
                <a:latin typeface="Barlow ExtraBold"/>
                <a:ea typeface="Barlow ExtraBold"/>
                <a:cs typeface="Barlow ExtraBold"/>
              </a:rPr>
              <a:t>Tell us everything</a:t>
            </a:r>
            <a:endParaRPr lang="en-US" sz="2100" dirty="0"/>
          </a:p>
        </p:txBody>
      </p:sp>
      <p:sp>
        <p:nvSpPr>
          <p:cNvPr id="62" name="jo-d2"/>
          <p:cNvSpPr txBox="1"/>
          <p:nvPr/>
        </p:nvSpPr>
        <p:spPr>
          <a:xfrm>
            <a:off x="7969250" y="3792474"/>
            <a:ext cx="3206750" cy="6969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EA7AF"/>
                </a:solidFill>
                <a:latin typeface="Barlow"/>
                <a:ea typeface="Barlow"/>
                <a:cs typeface="Barlow"/>
              </a:rPr>
              <a:t>Bugs, rough edges and the features you wish it had, on GitHub Issues.</a:t>
            </a:r>
            <a:endParaRPr lang="en-US" sz="1500" dirty="0"/>
          </a:p>
        </p:txBody>
      </p:sp>
      <p:sp>
        <p:nvSpPr>
          <p:cNvPr id="63" name="jo-url1"/>
          <p:cNvSpPr txBox="1"/>
          <p:nvPr/>
        </p:nvSpPr>
        <p:spPr>
          <a:xfrm>
            <a:off x="872338" y="5125568"/>
            <a:ext cx="6992938" cy="2719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48"/>
              </a:lnSpc>
              <a:buNone/>
            </a:pPr>
            <a:r>
              <a:rPr lang="en-US" sz="1600" dirty="0">
                <a:solidFill>
                  <a:srgbClr val="F2F4F6"/>
                </a:solidFill>
                <a:latin typeface="Kode Mono"/>
                <a:ea typeface="Kode Mono"/>
                <a:cs typeface="Kode Mono"/>
              </a:rPr>
              <a:t>Download   github.com/jxburros/GWatch/releases</a:t>
            </a:r>
            <a:endParaRPr lang="en-US" sz="1600" dirty="0"/>
          </a:p>
        </p:txBody>
      </p:sp>
      <p:sp>
        <p:nvSpPr>
          <p:cNvPr id="64" name="jo-url2"/>
          <p:cNvSpPr txBox="1"/>
          <p:nvPr/>
        </p:nvSpPr>
        <p:spPr>
          <a:xfrm>
            <a:off x="870915" y="5481168"/>
            <a:ext cx="6683375" cy="2719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248"/>
              </a:lnSpc>
              <a:buNone/>
            </a:pPr>
            <a:r>
              <a:rPr lang="en-US" sz="1600" dirty="0">
                <a:solidFill>
                  <a:srgbClr val="F2F4F6"/>
                </a:solidFill>
                <a:latin typeface="Kode Mono"/>
                <a:ea typeface="Kode Mono"/>
                <a:cs typeface="Kode Mono"/>
              </a:rPr>
              <a:t>Feedback   github.com/jxburros/GWatch/issues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anks">
    <p:bg>
      <p:bgPr>
        <a:solidFill>
          <a:srgbClr val="0F11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-glow"/>
          <p:cNvSpPr/>
          <p:nvPr/>
        </p:nvSpPr>
        <p:spPr>
          <a:xfrm>
            <a:off x="1905000" y="-1905000"/>
            <a:ext cx="12700000" cy="12700000"/>
          </a:xfrm>
          <a:prstGeom prst="rect">
            <a:avLst/>
          </a:prstGeom>
          <a:gradFill rotWithShape="1">
            <a:gsLst>
              <a:gs pos="0">
                <a:srgbClr val="43C9C0">
                  <a:alpha val="28235"/>
                </a:srgbClr>
              </a:gs>
              <a:gs pos="60000">
                <a:srgbClr val="43C9C0">
                  <a:alpha val="4706"/>
                </a:srgbClr>
              </a:gs>
              <a:gs pos="100000">
                <a:srgbClr val="43C9C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43" name="th-field"/>
          <p:cNvGrpSpPr/>
          <p:nvPr/>
        </p:nvGrpSpPr>
        <p:grpSpPr>
          <a:xfrm>
            <a:off x="0" y="0"/>
            <a:ext cx="12192000" cy="7620000"/>
            <a:chOff x="0" y="0"/>
            <a:chExt cx="12192000" cy="7620000"/>
          </a:xfrm>
        </p:grpSpPr>
        <p:sp>
          <p:nvSpPr>
            <p:cNvPr id="3" name="th-field-l0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9600" y="96000"/>
                  </a:moveTo>
                  <a:lnTo>
                    <a:pt x="35470" y="96000"/>
                  </a:lnTo>
                  <a:lnTo>
                    <a:pt x="46670" y="84800"/>
                  </a:lnTo>
                  <a:lnTo>
                    <a:pt x="70130" y="84800"/>
                  </a:lnTo>
                  <a:lnTo>
                    <a:pt x="82400" y="72530"/>
                  </a:lnTo>
                  <a:lnTo>
                    <a:pt x="105070" y="72530"/>
                  </a:lnTo>
                  <a:lnTo>
                    <a:pt x="120000" y="57600"/>
                  </a:lnTo>
                  <a:lnTo>
                    <a:pt x="143470" y="57600"/>
                  </a:lnTo>
                  <a:lnTo>
                    <a:pt x="157070" y="44000"/>
                  </a:lnTo>
                  <a:lnTo>
                    <a:pt x="187730" y="44000"/>
                  </a:lnTo>
                </a:path>
              </a:pathLst>
            </a:custGeom>
            <a:noFill/>
            <a:ln w="12700">
              <a:solidFill>
                <a:srgbClr val="43C9C0">
                  <a:alpha val="20000"/>
                </a:srgbClr>
              </a:solidFill>
            </a:ln>
          </p:spPr>
        </p:sp>
        <p:sp>
          <p:nvSpPr>
            <p:cNvPr id="4" name="th-field-l1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28530" y="15730"/>
                  </a:moveTo>
                  <a:lnTo>
                    <a:pt x="56000" y="15730"/>
                  </a:lnTo>
                  <a:lnTo>
                    <a:pt x="65870" y="25600"/>
                  </a:lnTo>
                  <a:lnTo>
                    <a:pt x="93870" y="25600"/>
                  </a:lnTo>
                  <a:lnTo>
                    <a:pt x="105330" y="37070"/>
                  </a:lnTo>
                  <a:lnTo>
                    <a:pt x="130130" y="37070"/>
                  </a:lnTo>
                  <a:lnTo>
                    <a:pt x="140800" y="47730"/>
                  </a:lnTo>
                  <a:lnTo>
                    <a:pt x="182400" y="47730"/>
                  </a:lnTo>
                </a:path>
              </a:pathLst>
            </a:custGeom>
            <a:noFill/>
            <a:ln w="12700">
              <a:solidFill>
                <a:srgbClr val="43C9C0">
                  <a:alpha val="13333"/>
                </a:srgbClr>
              </a:solidFill>
            </a:ln>
          </p:spPr>
        </p:sp>
        <p:sp>
          <p:nvSpPr>
            <p:cNvPr id="5" name="th-field-l2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0" y="62930"/>
                  </a:moveTo>
                  <a:lnTo>
                    <a:pt x="21870" y="62930"/>
                  </a:lnTo>
                  <a:lnTo>
                    <a:pt x="32000" y="52800"/>
                  </a:lnTo>
                  <a:lnTo>
                    <a:pt x="63730" y="52800"/>
                  </a:lnTo>
                  <a:lnTo>
                    <a:pt x="71730" y="60800"/>
                  </a:lnTo>
                  <a:lnTo>
                    <a:pt x="99730" y="60800"/>
                  </a:lnTo>
                  <a:lnTo>
                    <a:pt x="112530" y="48000"/>
                  </a:lnTo>
                  <a:lnTo>
                    <a:pt x="140270" y="48000"/>
                  </a:lnTo>
                  <a:lnTo>
                    <a:pt x="151200" y="58930"/>
                  </a:lnTo>
                  <a:lnTo>
                    <a:pt x="192000" y="58930"/>
                  </a:lnTo>
                </a:path>
              </a:pathLst>
            </a:custGeom>
            <a:noFill/>
            <a:ln w="12700">
              <a:solidFill>
                <a:srgbClr val="43C9C0">
                  <a:alpha val="11373"/>
                </a:srgbClr>
              </a:solidFill>
            </a:ln>
          </p:spPr>
        </p:sp>
        <p:sp>
          <p:nvSpPr>
            <p:cNvPr id="6" name="th-field-l3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49600" y="120000"/>
                  </a:moveTo>
                  <a:lnTo>
                    <a:pt x="49600" y="102400"/>
                  </a:lnTo>
                  <a:lnTo>
                    <a:pt x="61600" y="90400"/>
                  </a:lnTo>
                  <a:lnTo>
                    <a:pt x="61600" y="65070"/>
                  </a:lnTo>
                  <a:lnTo>
                    <a:pt x="73070" y="53600"/>
                  </a:lnTo>
                  <a:lnTo>
                    <a:pt x="73070" y="28270"/>
                  </a:lnTo>
                  <a:lnTo>
                    <a:pt x="84530" y="16800"/>
                  </a:lnTo>
                  <a:lnTo>
                    <a:pt x="84530" y="0"/>
                  </a:lnTo>
                </a:path>
              </a:pathLst>
            </a:custGeom>
            <a:noFill/>
            <a:ln w="12700">
              <a:solidFill>
                <a:srgbClr val="43C9C0">
                  <a:alpha val="9020"/>
                </a:srgbClr>
              </a:solidFill>
            </a:ln>
          </p:spPr>
        </p:sp>
        <p:sp>
          <p:nvSpPr>
            <p:cNvPr id="7" name="th-field-l4"/>
            <p:cNvSpPr/>
            <p:nvPr/>
          </p:nvSpPr>
          <p:spPr>
            <a:xfrm>
              <a:off x="0" y="0"/>
              <a:ext cx="12192000" cy="7620000"/>
            </a:xfrm>
            <a:custGeom>
              <a:avLst/>
              <a:gdLst/>
              <a:ahLst/>
              <a:cxnLst/>
              <a:rect l="0" t="0" r="r" b="b"/>
              <a:pathLst>
                <a:path w="192000" h="120000">
                  <a:moveTo>
                    <a:pt x="136800" y="120000"/>
                  </a:moveTo>
                  <a:lnTo>
                    <a:pt x="136800" y="97330"/>
                  </a:lnTo>
                  <a:lnTo>
                    <a:pt x="127200" y="87730"/>
                  </a:lnTo>
                  <a:lnTo>
                    <a:pt x="127200" y="69330"/>
                  </a:lnTo>
                  <a:lnTo>
                    <a:pt x="139730" y="56800"/>
                  </a:lnTo>
                  <a:lnTo>
                    <a:pt x="139730" y="33600"/>
                  </a:lnTo>
                  <a:lnTo>
                    <a:pt x="151470" y="21870"/>
                  </a:lnTo>
                  <a:lnTo>
                    <a:pt x="151470" y="0"/>
                  </a:lnTo>
                </a:path>
              </a:pathLst>
            </a:custGeom>
            <a:noFill/>
            <a:ln w="12700">
              <a:solidFill>
                <a:srgbClr val="43C9C0">
                  <a:alpha val="9020"/>
                </a:srgbClr>
              </a:solidFill>
            </a:ln>
          </p:spPr>
        </p:sp>
        <p:sp>
          <p:nvSpPr>
            <p:cNvPr id="8" name="th-field-d0"/>
            <p:cNvSpPr/>
            <p:nvPr/>
          </p:nvSpPr>
          <p:spPr>
            <a:xfrm>
              <a:off x="577850" y="6064250"/>
              <a:ext cx="63500" cy="6350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9" name="th-field-d1"/>
            <p:cNvSpPr/>
            <p:nvPr/>
          </p:nvSpPr>
          <p:spPr>
            <a:xfrm>
              <a:off x="2209800" y="60579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10" name="th-field-d2"/>
            <p:cNvSpPr/>
            <p:nvPr/>
          </p:nvSpPr>
          <p:spPr>
            <a:xfrm>
              <a:off x="2933700" y="5359400"/>
              <a:ext cx="57150" cy="57150"/>
            </a:xfrm>
            <a:prstGeom prst="ellipse">
              <a:avLst/>
            </a:prstGeom>
            <a:solidFill>
              <a:srgbClr val="43C9C0">
                <a:alpha val="57255"/>
              </a:srgbClr>
            </a:solidFill>
            <a:ln>
              <a:noFill/>
            </a:ln>
          </p:spPr>
        </p:sp>
        <p:sp>
          <p:nvSpPr>
            <p:cNvPr id="11" name="th-field-d3"/>
            <p:cNvSpPr/>
            <p:nvPr/>
          </p:nvSpPr>
          <p:spPr>
            <a:xfrm>
              <a:off x="4413250" y="5346700"/>
              <a:ext cx="82550" cy="82550"/>
            </a:xfrm>
            <a:prstGeom prst="ellipse">
              <a:avLst/>
            </a:prstGeom>
            <a:solidFill>
              <a:srgbClr val="43C9C0">
                <a:alpha val="20784"/>
              </a:srgbClr>
            </a:solidFill>
            <a:ln>
              <a:noFill/>
            </a:ln>
          </p:spPr>
        </p:sp>
        <p:sp>
          <p:nvSpPr>
            <p:cNvPr id="12" name="th-field-d4"/>
            <p:cNvSpPr/>
            <p:nvPr/>
          </p:nvSpPr>
          <p:spPr>
            <a:xfrm>
              <a:off x="5200650" y="4572000"/>
              <a:ext cx="63500" cy="6350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13" name="th-field-d5"/>
            <p:cNvSpPr/>
            <p:nvPr/>
          </p:nvSpPr>
          <p:spPr>
            <a:xfrm>
              <a:off x="6642100" y="4578350"/>
              <a:ext cx="57150" cy="57150"/>
            </a:xfrm>
            <a:prstGeom prst="ellipse">
              <a:avLst/>
            </a:prstGeom>
            <a:solidFill>
              <a:srgbClr val="43C9C0">
                <a:alpha val="29020"/>
              </a:srgbClr>
            </a:solidFill>
            <a:ln>
              <a:noFill/>
            </a:ln>
          </p:spPr>
        </p:sp>
        <p:sp>
          <p:nvSpPr>
            <p:cNvPr id="14" name="th-field-d6"/>
            <p:cNvSpPr/>
            <p:nvPr/>
          </p:nvSpPr>
          <p:spPr>
            <a:xfrm>
              <a:off x="7575550" y="3613150"/>
              <a:ext cx="88900" cy="8890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15" name="th-field-d7"/>
            <p:cNvSpPr/>
            <p:nvPr/>
          </p:nvSpPr>
          <p:spPr>
            <a:xfrm>
              <a:off x="9080500" y="3632200"/>
              <a:ext cx="57150" cy="57150"/>
            </a:xfrm>
            <a:prstGeom prst="ellipse">
              <a:avLst/>
            </a:prstGeom>
            <a:solidFill>
              <a:srgbClr val="43C9C0">
                <a:alpha val="31373"/>
              </a:srgbClr>
            </a:solidFill>
            <a:ln>
              <a:noFill/>
            </a:ln>
          </p:spPr>
        </p:sp>
        <p:sp>
          <p:nvSpPr>
            <p:cNvPr id="16" name="th-field-d8"/>
            <p:cNvSpPr/>
            <p:nvPr/>
          </p:nvSpPr>
          <p:spPr>
            <a:xfrm>
              <a:off x="9931400" y="2755900"/>
              <a:ext cx="82550" cy="82550"/>
            </a:xfrm>
            <a:prstGeom prst="ellipse">
              <a:avLst/>
            </a:prstGeom>
            <a:solidFill>
              <a:srgbClr val="43C9C0">
                <a:alpha val="47843"/>
              </a:srgbClr>
            </a:solidFill>
            <a:ln>
              <a:noFill/>
            </a:ln>
          </p:spPr>
        </p:sp>
        <p:sp>
          <p:nvSpPr>
            <p:cNvPr id="17" name="th-field-d9"/>
            <p:cNvSpPr/>
            <p:nvPr/>
          </p:nvSpPr>
          <p:spPr>
            <a:xfrm>
              <a:off x="11557000" y="2768600"/>
              <a:ext cx="57150" cy="57150"/>
            </a:xfrm>
            <a:prstGeom prst="ellipse">
              <a:avLst/>
            </a:prstGeom>
            <a:solidFill>
              <a:srgbClr val="43C9C0">
                <a:alpha val="25098"/>
              </a:srgbClr>
            </a:solidFill>
            <a:ln>
              <a:noFill/>
            </a:ln>
          </p:spPr>
        </p:sp>
        <p:sp>
          <p:nvSpPr>
            <p:cNvPr id="18" name="th-field-d10"/>
            <p:cNvSpPr/>
            <p:nvPr/>
          </p:nvSpPr>
          <p:spPr>
            <a:xfrm>
              <a:off x="1778000" y="965200"/>
              <a:ext cx="63500" cy="63500"/>
            </a:xfrm>
            <a:prstGeom prst="ellipse">
              <a:avLst/>
            </a:prstGeom>
            <a:solidFill>
              <a:srgbClr val="43C9C0">
                <a:alpha val="20784"/>
              </a:srgbClr>
            </a:solidFill>
            <a:ln>
              <a:noFill/>
            </a:ln>
          </p:spPr>
        </p:sp>
        <p:sp>
          <p:nvSpPr>
            <p:cNvPr id="19" name="th-field-d11"/>
            <p:cNvSpPr/>
            <p:nvPr/>
          </p:nvSpPr>
          <p:spPr>
            <a:xfrm>
              <a:off x="3517900" y="958850"/>
              <a:ext cx="82550" cy="82550"/>
            </a:xfrm>
            <a:prstGeom prst="ellipse">
              <a:avLst/>
            </a:prstGeom>
            <a:solidFill>
              <a:srgbClr val="43C9C0">
                <a:alpha val="45882"/>
              </a:srgbClr>
            </a:solidFill>
            <a:ln>
              <a:noFill/>
            </a:ln>
          </p:spPr>
        </p:sp>
        <p:sp>
          <p:nvSpPr>
            <p:cNvPr id="20" name="th-field-d12"/>
            <p:cNvSpPr/>
            <p:nvPr/>
          </p:nvSpPr>
          <p:spPr>
            <a:xfrm>
              <a:off x="4152900" y="1600200"/>
              <a:ext cx="57150" cy="57150"/>
            </a:xfrm>
            <a:prstGeom prst="ellipse">
              <a:avLst/>
            </a:prstGeom>
            <a:solidFill>
              <a:srgbClr val="43C9C0">
                <a:alpha val="31373"/>
              </a:srgbClr>
            </a:solidFill>
            <a:ln>
              <a:noFill/>
            </a:ln>
          </p:spPr>
        </p:sp>
        <p:sp>
          <p:nvSpPr>
            <p:cNvPr id="21" name="th-field-d13"/>
            <p:cNvSpPr/>
            <p:nvPr/>
          </p:nvSpPr>
          <p:spPr>
            <a:xfrm>
              <a:off x="5918200" y="15875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22" name="th-field-d14"/>
            <p:cNvSpPr/>
            <p:nvPr/>
          </p:nvSpPr>
          <p:spPr>
            <a:xfrm>
              <a:off x="6654800" y="2324100"/>
              <a:ext cx="63500" cy="6350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23" name="th-field-d15"/>
            <p:cNvSpPr/>
            <p:nvPr/>
          </p:nvSpPr>
          <p:spPr>
            <a:xfrm>
              <a:off x="8235950" y="2324100"/>
              <a:ext cx="57150" cy="57150"/>
            </a:xfrm>
            <a:prstGeom prst="ellipse">
              <a:avLst/>
            </a:prstGeom>
            <a:solidFill>
              <a:srgbClr val="43C9C0">
                <a:alpha val="25882"/>
              </a:srgbClr>
            </a:solidFill>
            <a:ln>
              <a:noFill/>
            </a:ln>
          </p:spPr>
        </p:sp>
        <p:sp>
          <p:nvSpPr>
            <p:cNvPr id="24" name="th-field-d16"/>
            <p:cNvSpPr/>
            <p:nvPr/>
          </p:nvSpPr>
          <p:spPr>
            <a:xfrm>
              <a:off x="8902700" y="2990850"/>
              <a:ext cx="82550" cy="825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25" name="th-field-d17"/>
            <p:cNvSpPr/>
            <p:nvPr/>
          </p:nvSpPr>
          <p:spPr>
            <a:xfrm>
              <a:off x="1346200" y="395605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26" name="th-field-d18"/>
            <p:cNvSpPr/>
            <p:nvPr/>
          </p:nvSpPr>
          <p:spPr>
            <a:xfrm>
              <a:off x="2006600" y="3327400"/>
              <a:ext cx="57150" cy="5715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27" name="th-field-d19"/>
            <p:cNvSpPr/>
            <p:nvPr/>
          </p:nvSpPr>
          <p:spPr>
            <a:xfrm>
              <a:off x="4013200" y="3314700"/>
              <a:ext cx="69850" cy="698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28" name="th-field-d20"/>
            <p:cNvSpPr/>
            <p:nvPr/>
          </p:nvSpPr>
          <p:spPr>
            <a:xfrm>
              <a:off x="4527550" y="3835400"/>
              <a:ext cx="57150" cy="571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  <p:sp>
          <p:nvSpPr>
            <p:cNvPr id="29" name="th-field-d21"/>
            <p:cNvSpPr/>
            <p:nvPr/>
          </p:nvSpPr>
          <p:spPr>
            <a:xfrm>
              <a:off x="6292850" y="38227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0" name="th-field-d22"/>
            <p:cNvSpPr/>
            <p:nvPr/>
          </p:nvSpPr>
          <p:spPr>
            <a:xfrm>
              <a:off x="7118350" y="3022600"/>
              <a:ext cx="57150" cy="5715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31" name="th-field-d23"/>
            <p:cNvSpPr/>
            <p:nvPr/>
          </p:nvSpPr>
          <p:spPr>
            <a:xfrm>
              <a:off x="8870950" y="3009900"/>
              <a:ext cx="69850" cy="69850"/>
            </a:xfrm>
            <a:prstGeom prst="ellipse">
              <a:avLst/>
            </a:prstGeom>
            <a:solidFill>
              <a:srgbClr val="43C9C0">
                <a:alpha val="25098"/>
              </a:srgbClr>
            </a:solidFill>
            <a:ln>
              <a:noFill/>
            </a:ln>
          </p:spPr>
        </p:sp>
        <p:sp>
          <p:nvSpPr>
            <p:cNvPr id="32" name="th-field-d24"/>
            <p:cNvSpPr/>
            <p:nvPr/>
          </p:nvSpPr>
          <p:spPr>
            <a:xfrm>
              <a:off x="9575800" y="3714750"/>
              <a:ext cx="57150" cy="57150"/>
            </a:xfrm>
            <a:prstGeom prst="ellipse">
              <a:avLst/>
            </a:prstGeom>
            <a:solidFill>
              <a:srgbClr val="43C9C0">
                <a:alpha val="41569"/>
              </a:srgbClr>
            </a:solidFill>
            <a:ln>
              <a:noFill/>
            </a:ln>
          </p:spPr>
        </p:sp>
        <p:sp>
          <p:nvSpPr>
            <p:cNvPr id="33" name="th-field-d25"/>
            <p:cNvSpPr/>
            <p:nvPr/>
          </p:nvSpPr>
          <p:spPr>
            <a:xfrm>
              <a:off x="3117850" y="6470650"/>
              <a:ext cx="63500" cy="63500"/>
            </a:xfrm>
            <a:prstGeom prst="ellipse">
              <a:avLst/>
            </a:prstGeom>
            <a:solidFill>
              <a:srgbClr val="43C9C0">
                <a:alpha val="33333"/>
              </a:srgbClr>
            </a:solidFill>
            <a:ln>
              <a:noFill/>
            </a:ln>
          </p:spPr>
        </p:sp>
        <p:sp>
          <p:nvSpPr>
            <p:cNvPr id="34" name="th-field-d26"/>
            <p:cNvSpPr/>
            <p:nvPr/>
          </p:nvSpPr>
          <p:spPr>
            <a:xfrm>
              <a:off x="3873500" y="570230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35" name="th-field-d27"/>
            <p:cNvSpPr/>
            <p:nvPr/>
          </p:nvSpPr>
          <p:spPr>
            <a:xfrm>
              <a:off x="3886200" y="4102100"/>
              <a:ext cx="57150" cy="57150"/>
            </a:xfrm>
            <a:prstGeom prst="ellipse">
              <a:avLst/>
            </a:prstGeom>
            <a:solidFill>
              <a:srgbClr val="43C9C0">
                <a:alpha val="49804"/>
              </a:srgbClr>
            </a:solidFill>
            <a:ln>
              <a:noFill/>
            </a:ln>
          </p:spPr>
        </p:sp>
        <p:sp>
          <p:nvSpPr>
            <p:cNvPr id="36" name="th-field-d28"/>
            <p:cNvSpPr/>
            <p:nvPr/>
          </p:nvSpPr>
          <p:spPr>
            <a:xfrm>
              <a:off x="4597400" y="33655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37" name="th-field-d29"/>
            <p:cNvSpPr/>
            <p:nvPr/>
          </p:nvSpPr>
          <p:spPr>
            <a:xfrm>
              <a:off x="4610100" y="1765300"/>
              <a:ext cx="57150" cy="57150"/>
            </a:xfrm>
            <a:prstGeom prst="ellipse">
              <a:avLst/>
            </a:prstGeom>
            <a:solidFill>
              <a:srgbClr val="43C9C0">
                <a:alpha val="45882"/>
              </a:srgbClr>
            </a:solidFill>
            <a:ln>
              <a:noFill/>
            </a:ln>
          </p:spPr>
        </p:sp>
        <p:sp>
          <p:nvSpPr>
            <p:cNvPr id="38" name="th-field-d30"/>
            <p:cNvSpPr/>
            <p:nvPr/>
          </p:nvSpPr>
          <p:spPr>
            <a:xfrm>
              <a:off x="8655050" y="6146800"/>
              <a:ext cx="63500" cy="63500"/>
            </a:xfrm>
            <a:prstGeom prst="ellipse">
              <a:avLst/>
            </a:prstGeom>
            <a:solidFill>
              <a:srgbClr val="43C9C0">
                <a:alpha val="39608"/>
              </a:srgbClr>
            </a:solidFill>
            <a:ln>
              <a:noFill/>
            </a:ln>
          </p:spPr>
        </p:sp>
        <p:sp>
          <p:nvSpPr>
            <p:cNvPr id="39" name="th-field-d31"/>
            <p:cNvSpPr/>
            <p:nvPr/>
          </p:nvSpPr>
          <p:spPr>
            <a:xfrm>
              <a:off x="8039100" y="5530850"/>
              <a:ext cx="82550" cy="82550"/>
            </a:xfrm>
            <a:prstGeom prst="ellipse">
              <a:avLst/>
            </a:prstGeom>
            <a:solidFill>
              <a:srgbClr val="43C9C0">
                <a:alpha val="18824"/>
              </a:srgbClr>
            </a:solidFill>
            <a:ln>
              <a:noFill/>
            </a:ln>
          </p:spPr>
        </p:sp>
        <p:sp>
          <p:nvSpPr>
            <p:cNvPr id="40" name="th-field-d32"/>
            <p:cNvSpPr/>
            <p:nvPr/>
          </p:nvSpPr>
          <p:spPr>
            <a:xfrm>
              <a:off x="8051800" y="4375150"/>
              <a:ext cx="57150" cy="57150"/>
            </a:xfrm>
            <a:prstGeom prst="ellipse">
              <a:avLst/>
            </a:prstGeom>
            <a:solidFill>
              <a:srgbClr val="43C9C0">
                <a:alpha val="52157"/>
              </a:srgbClr>
            </a:solidFill>
            <a:ln>
              <a:noFill/>
            </a:ln>
          </p:spPr>
        </p:sp>
        <p:sp>
          <p:nvSpPr>
            <p:cNvPr id="41" name="th-field-d33"/>
            <p:cNvSpPr/>
            <p:nvPr/>
          </p:nvSpPr>
          <p:spPr>
            <a:xfrm>
              <a:off x="8832850" y="3568700"/>
              <a:ext cx="82550" cy="82550"/>
            </a:xfrm>
            <a:prstGeom prst="ellipse">
              <a:avLst/>
            </a:prstGeom>
            <a:solidFill>
              <a:srgbClr val="43C9C0">
                <a:alpha val="22745"/>
              </a:srgbClr>
            </a:solidFill>
            <a:ln>
              <a:noFill/>
            </a:ln>
          </p:spPr>
        </p:sp>
        <p:sp>
          <p:nvSpPr>
            <p:cNvPr id="42" name="th-field-d34"/>
            <p:cNvSpPr/>
            <p:nvPr/>
          </p:nvSpPr>
          <p:spPr>
            <a:xfrm>
              <a:off x="8845550" y="2108200"/>
              <a:ext cx="57150" cy="57150"/>
            </a:xfrm>
            <a:prstGeom prst="ellipse">
              <a:avLst/>
            </a:prstGeom>
            <a:solidFill>
              <a:srgbClr val="43C9C0">
                <a:alpha val="43529"/>
              </a:srgbClr>
            </a:solidFill>
            <a:ln>
              <a:noFill/>
            </a:ln>
          </p:spPr>
        </p:sp>
      </p:grpSp>
      <p:grpSp>
        <p:nvGrpSpPr>
          <p:cNvPr id="51" name="th-mark"/>
          <p:cNvGrpSpPr/>
          <p:nvPr/>
        </p:nvGrpSpPr>
        <p:grpSpPr>
          <a:xfrm>
            <a:off x="5143500" y="1079500"/>
            <a:ext cx="1905000" cy="1905000"/>
            <a:chOff x="0" y="0"/>
            <a:chExt cx="1905000" cy="1905000"/>
          </a:xfrm>
        </p:grpSpPr>
        <p:sp>
          <p:nvSpPr>
            <p:cNvPr id="44" name="th-mark-c0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3820" y="13078"/>
                  </a:moveTo>
                  <a:cubicBezTo>
                    <a:pt x="3820" y="18191"/>
                    <a:pt x="7965" y="22336"/>
                    <a:pt x="13078" y="22336"/>
                  </a:cubicBezTo>
                  <a:cubicBezTo>
                    <a:pt x="18191" y="22336"/>
                    <a:pt x="22336" y="18191"/>
                    <a:pt x="22336" y="13078"/>
                  </a:cubicBezTo>
                  <a:cubicBezTo>
                    <a:pt x="22336" y="7965"/>
                    <a:pt x="18191" y="3820"/>
                    <a:pt x="13078" y="3820"/>
                  </a:cubicBezTo>
                  <a:cubicBezTo>
                    <a:pt x="7965" y="3820"/>
                    <a:pt x="3820" y="7965"/>
                    <a:pt x="3820" y="13078"/>
                  </a:cubicBezTo>
                  <a:close/>
                </a:path>
              </a:pathLst>
            </a:custGeom>
            <a:solidFill>
              <a:srgbClr val="1B1E24"/>
            </a:solidFill>
            <a:ln>
              <a:noFill/>
            </a:ln>
          </p:spPr>
        </p:sp>
        <p:sp>
          <p:nvSpPr>
            <p:cNvPr id="45" name="th-mark-c1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7945" y="13219"/>
                  </a:moveTo>
                  <a:cubicBezTo>
                    <a:pt x="7945" y="16183"/>
                    <a:pt x="10348" y="18586"/>
                    <a:pt x="13312" y="18586"/>
                  </a:cubicBezTo>
                  <a:cubicBezTo>
                    <a:pt x="16277" y="18586"/>
                    <a:pt x="18680" y="16183"/>
                    <a:pt x="18680" y="13219"/>
                  </a:cubicBezTo>
                  <a:cubicBezTo>
                    <a:pt x="18680" y="10255"/>
                    <a:pt x="16277" y="7851"/>
                    <a:pt x="13312" y="7851"/>
                  </a:cubicBezTo>
                  <a:cubicBezTo>
                    <a:pt x="10348" y="7851"/>
                    <a:pt x="7945" y="10255"/>
                    <a:pt x="7945" y="13219"/>
                  </a:cubicBezTo>
                  <a:close/>
                </a:path>
              </a:pathLst>
            </a:custGeom>
            <a:solidFill>
              <a:srgbClr val="D3A32E"/>
            </a:solidFill>
            <a:ln>
              <a:noFill/>
            </a:ln>
          </p:spPr>
        </p:sp>
        <p:sp>
          <p:nvSpPr>
            <p:cNvPr id="46" name="th-mark-c2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10359" y="13336"/>
                  </a:moveTo>
                  <a:cubicBezTo>
                    <a:pt x="10339" y="14412"/>
                    <a:pt x="10902" y="15416"/>
                    <a:pt x="11831" y="15960"/>
                  </a:cubicBezTo>
                  <a:cubicBezTo>
                    <a:pt x="12760" y="16504"/>
                    <a:pt x="13911" y="16504"/>
                    <a:pt x="14840" y="15960"/>
                  </a:cubicBezTo>
                  <a:cubicBezTo>
                    <a:pt x="15769" y="15416"/>
                    <a:pt x="16332" y="14412"/>
                    <a:pt x="16312" y="13336"/>
                  </a:cubicBezTo>
                  <a:cubicBezTo>
                    <a:pt x="16332" y="12260"/>
                    <a:pt x="15769" y="11256"/>
                    <a:pt x="14840" y="10712"/>
                  </a:cubicBezTo>
                  <a:cubicBezTo>
                    <a:pt x="13911" y="10168"/>
                    <a:pt x="12760" y="10168"/>
                    <a:pt x="11831" y="10712"/>
                  </a:cubicBezTo>
                  <a:cubicBezTo>
                    <a:pt x="10902" y="11256"/>
                    <a:pt x="10339" y="12260"/>
                    <a:pt x="10359" y="13336"/>
                  </a:cubicBezTo>
                  <a:close/>
                </a:path>
              </a:pathLst>
            </a:custGeom>
            <a:solidFill>
              <a:srgbClr val="F2F4F6"/>
            </a:solidFill>
            <a:ln>
              <a:noFill/>
            </a:ln>
          </p:spPr>
        </p:sp>
        <p:sp>
          <p:nvSpPr>
            <p:cNvPr id="47" name="th-mark-c3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13875" y="12094"/>
                  </a:moveTo>
                  <a:cubicBezTo>
                    <a:pt x="13864" y="12402"/>
                    <a:pt x="14023" y="12692"/>
                    <a:pt x="14288" y="12849"/>
                  </a:cubicBezTo>
                  <a:cubicBezTo>
                    <a:pt x="14553" y="13006"/>
                    <a:pt x="14884" y="13006"/>
                    <a:pt x="15149" y="12849"/>
                  </a:cubicBezTo>
                  <a:cubicBezTo>
                    <a:pt x="15414" y="12692"/>
                    <a:pt x="15573" y="12402"/>
                    <a:pt x="15562" y="12094"/>
                  </a:cubicBezTo>
                  <a:cubicBezTo>
                    <a:pt x="15573" y="11786"/>
                    <a:pt x="15414" y="11496"/>
                    <a:pt x="15149" y="11339"/>
                  </a:cubicBezTo>
                  <a:cubicBezTo>
                    <a:pt x="14884" y="11182"/>
                    <a:pt x="14553" y="11182"/>
                    <a:pt x="14288" y="11339"/>
                  </a:cubicBezTo>
                  <a:cubicBezTo>
                    <a:pt x="14023" y="11496"/>
                    <a:pt x="13864" y="11786"/>
                    <a:pt x="13875" y="12094"/>
                  </a:cubicBezTo>
                  <a:close/>
                </a:path>
              </a:pathLst>
            </a:custGeom>
            <a:solidFill>
              <a:srgbClr val="0F1114"/>
            </a:solidFill>
            <a:ln>
              <a:noFill/>
            </a:ln>
          </p:spPr>
        </p:sp>
        <p:sp>
          <p:nvSpPr>
            <p:cNvPr id="48" name="th-mark-s0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23719" y="12520"/>
                  </a:moveTo>
                  <a:cubicBezTo>
                    <a:pt x="24003" y="17913"/>
                    <a:pt x="20208" y="22665"/>
                    <a:pt x="14886" y="23581"/>
                  </a:cubicBezTo>
                  <a:cubicBezTo>
                    <a:pt x="9564" y="24497"/>
                    <a:pt x="4398" y="21287"/>
                    <a:pt x="2863" y="16110"/>
                  </a:cubicBezTo>
                  <a:cubicBezTo>
                    <a:pt x="1328" y="10932"/>
                    <a:pt x="3909" y="5425"/>
                    <a:pt x="8870" y="3292"/>
                  </a:cubicBezTo>
                  <a:cubicBezTo>
                    <a:pt x="13831" y="1159"/>
                    <a:pt x="19604" y="3075"/>
                    <a:pt x="22305" y="7751"/>
                  </a:cubicBezTo>
                </a:path>
              </a:pathLst>
            </a:custGeom>
            <a:noFill/>
            <a:ln w="184150" cap="rnd">
              <a:solidFill>
                <a:srgbClr val="F2F4F6"/>
              </a:solidFill>
              <a:round/>
            </a:ln>
          </p:spPr>
        </p:sp>
        <p:sp>
          <p:nvSpPr>
            <p:cNvPr id="49" name="th-mark-s1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20836" y="13784"/>
                  </a:moveTo>
                  <a:lnTo>
                    <a:pt x="23812" y="13784"/>
                  </a:lnTo>
                </a:path>
              </a:pathLst>
            </a:custGeom>
            <a:noFill/>
            <a:ln w="171450" cap="rnd">
              <a:solidFill>
                <a:srgbClr val="F2F4F6"/>
              </a:solidFill>
              <a:round/>
            </a:ln>
          </p:spPr>
        </p:sp>
        <p:sp>
          <p:nvSpPr>
            <p:cNvPr id="50" name="th-mark-s2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0" t="0" r="r" b="b"/>
              <a:pathLst>
                <a:path w="30000" h="30000">
                  <a:moveTo>
                    <a:pt x="22139" y="22177"/>
                  </a:moveTo>
                  <a:lnTo>
                    <a:pt x="27087" y="27159"/>
                  </a:lnTo>
                </a:path>
              </a:pathLst>
            </a:custGeom>
            <a:noFill/>
            <a:ln w="241300" cap="rnd">
              <a:solidFill>
                <a:srgbClr val="F2F4F6"/>
              </a:solidFill>
              <a:round/>
            </a:ln>
          </p:spPr>
        </p:sp>
      </p:grpSp>
      <p:sp>
        <p:nvSpPr>
          <p:cNvPr id="52" name="th-title"/>
          <p:cNvSpPr>
            <a:spLocks noGrp="1"/>
          </p:cNvSpPr>
          <p:nvPr>
            <p:ph type="title"/>
          </p:nvPr>
        </p:nvSpPr>
        <p:spPr>
          <a:xfrm>
            <a:off x="0" y="3424936"/>
            <a:ext cx="12192000" cy="81686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ts val="65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00" b="1" dirty="0">
                <a:solidFill>
                  <a:srgbClr val="F2F4F6"/>
                </a:solidFill>
                <a:latin typeface="Barlow"/>
                <a:ea typeface="Barlow"/>
                <a:cs typeface="Barlow"/>
              </a:rPr>
              <a:t>Join the </a:t>
            </a:r>
            <a:r>
              <a:rPr lang="en-US" sz="5600" b="1" dirty="0">
                <a:solidFill>
                  <a:srgbClr val="43C9C0"/>
                </a:solidFill>
                <a:latin typeface="Barlow"/>
                <a:ea typeface="Barlow"/>
                <a:cs typeface="Barlow"/>
              </a:rPr>
              <a:t>GWatch Beta.</a:t>
            </a:r>
            <a:endParaRPr lang="en-US" sz="5600" dirty="0"/>
          </a:p>
        </p:txBody>
      </p:sp>
      <p:sp>
        <p:nvSpPr>
          <p:cNvPr id="53" name="th-url"/>
          <p:cNvSpPr txBox="1"/>
          <p:nvPr/>
        </p:nvSpPr>
        <p:spPr>
          <a:xfrm>
            <a:off x="3904463" y="4495749"/>
            <a:ext cx="5429250" cy="36200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016"/>
              </a:lnSpc>
              <a:buNone/>
            </a:pPr>
            <a:r>
              <a:rPr lang="en-US" sz="2200" dirty="0">
                <a:solidFill>
                  <a:srgbClr val="43C9C0"/>
                </a:solidFill>
                <a:latin typeface="Kode Mono"/>
                <a:ea typeface="Kode Mono"/>
                <a:cs typeface="Kode Mono"/>
              </a:rPr>
              <a:t>github.com/jxburros/GWatch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9</Slides>
  <Notes>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Join the GWatch Beta.</dc:title>
  <dc:creator>Vixl</dc:creator>
</cp:coreProperties>
</file>